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Annual revenue per square foot ($)</c:v>
                </c:pt>
              </c:strCache>
            </c:strRef>
          </c:tx>
          <c:spPr>
            <a:solidFill>
              <a:srgbClr val="6FA56B">
                <a:alpha val="100000"/>
              </a:srgbClr>
            </a:solidFill>
            <a:effectLst/>
          </c:spPr>
          <c:invertIfNegative val="0"/>
          <c:dLbls>
            <c:numFmt formatCode="$#,##0" sourceLinked="0"/>
            <c:txPr>
              <a:bodyPr/>
              <a:lstStyle/>
              <a:p>
                <a:pPr>
                  <a:defRPr b="1" i="0" strike="noStrike" sz="1800" u="none">
                    <a:solidFill>
                      <a:srgbClr val="1F4D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6FA56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F4D2E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Standard Rental</c:v>
                  </c:pt>
                  <c:pt idx="1">
                    <c:v>Licensed Daycare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18</c:v>
                </c:pt>
                <c:pt idx="1">
                  <c:v>72</c:v>
                </c:pt>
              </c:numCache>
            </c:numRef>
          </c:val>
        </c:ser>
        <c:dLbls>
          <c:numFmt formatCode="$#,##0" sourceLinked="0"/>
          <c:txPr>
            <a:bodyPr/>
            <a:lstStyle/>
            <a:p>
              <a:pPr>
                <a:defRPr b="1" i="0" strike="noStrike" sz="1800" u="none">
                  <a:solidFill>
                    <a:srgbClr val="1F4D2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1A1A1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8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6B5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4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280160"/>
            <a:ext cx="10972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0" b="1" spc="-200" kern="0" dirty="0">
                <a:solidFill>
                  <a:srgbClr val="B8D8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GREEN</a:t>
            </a:r>
            <a:endParaRPr lang="en-US" sz="13000" dirty="0"/>
          </a:p>
        </p:txBody>
      </p:sp>
      <p:sp>
        <p:nvSpPr>
          <p:cNvPr id="3" name="Text 1"/>
          <p:cNvSpPr/>
          <p:nvPr/>
        </p:nvSpPr>
        <p:spPr>
          <a:xfrm>
            <a:off x="548640" y="2651760"/>
            <a:ext cx="10972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0" b="1" spc="-2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LAPPE</a:t>
            </a:r>
            <a:endParaRPr lang="en-US" sz="13000" dirty="0"/>
          </a:p>
        </p:txBody>
      </p:sp>
      <p:sp>
        <p:nvSpPr>
          <p:cNvPr id="4" name="Text 2"/>
          <p:cNvSpPr/>
          <p:nvPr/>
        </p:nvSpPr>
        <p:spPr>
          <a:xfrm>
            <a:off x="594360" y="4114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spc="1200" kern="0" dirty="0">
                <a:solidFill>
                  <a:srgbClr val="6FA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PROPERTIES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4937760"/>
            <a:ext cx="109728" cy="1097280"/>
          </a:xfrm>
          <a:prstGeom prst="rect">
            <a:avLst/>
          </a:prstGeom>
          <a:solidFill>
            <a:srgbClr val="B8D84A"/>
          </a:solidFill>
          <a:ln w="12700">
            <a:solidFill>
              <a:srgbClr val="B8D8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493776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grass is greener on this side.</a:t>
            </a:r>
            <a:endParaRPr lang="en-US" sz="2200" dirty="0"/>
          </a:p>
          <a:p>
            <a:pPr indent="0" marL="0">
              <a:buNone/>
            </a:pPr>
            <a:r>
              <a:rPr lang="en-US" sz="1400" dirty="0">
                <a:solidFill>
                  <a:srgbClr val="6FA5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Partner alignment deck. May 2026.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132320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400" kern="0" dirty="0">
                <a:solidFill>
                  <a:srgbClr val="6FA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MEGAN GREEN  +  KEVIN LAPPE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2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6FA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thesis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4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Same four walls. Different revenue.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48640" y="2377440"/>
            <a:ext cx="77724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residential rentals price land by the bedroom. </a:t>
            </a:r>
            <a:endParaRPr lang="en-US" sz="20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Licensed daycare prices the same square footage by the child. </a:t>
            </a:r>
            <a:endParaRPr lang="en-US" sz="20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000" b="1" dirty="0">
                <a:solidFill>
                  <a:srgbClr val="1F4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Lappe Properties acquires homes that can serve both, then runs the higher-yield use.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4937760"/>
            <a:ext cx="35661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6FA56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4937760"/>
            <a:ext cx="73152" cy="1280160"/>
          </a:xfrm>
          <a:prstGeom prst="rect">
            <a:avLst/>
          </a:prstGeom>
          <a:solidFill>
            <a:srgbClr val="B8D84A"/>
          </a:solidFill>
          <a:ln w="12700">
            <a:solidFill>
              <a:srgbClr val="B8D8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50749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6FA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ACQUIRE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77240" y="544068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4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Homes that convert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297680" y="4937760"/>
            <a:ext cx="35661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6FA56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297680" y="4937760"/>
            <a:ext cx="73152" cy="1280160"/>
          </a:xfrm>
          <a:prstGeom prst="rect">
            <a:avLst/>
          </a:prstGeom>
          <a:solidFill>
            <a:srgbClr val="B8D84A"/>
          </a:solidFill>
          <a:ln w="12700">
            <a:solidFill>
              <a:srgbClr val="B8D8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26280" y="50749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6FA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26280" y="544068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4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License for childcare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8046720" y="4937760"/>
            <a:ext cx="35661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6FA56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046720" y="4937760"/>
            <a:ext cx="73152" cy="1280160"/>
          </a:xfrm>
          <a:prstGeom prst="rect">
            <a:avLst/>
          </a:prstGeom>
          <a:solidFill>
            <a:srgbClr val="B8D84A"/>
          </a:solidFill>
          <a:ln w="12700">
            <a:solidFill>
              <a:srgbClr val="B8D8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75320" y="50749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6FA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COMPOUND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275320" y="544068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4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Higher yield, lower vacancy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0" y="6537960"/>
            <a:ext cx="12161520" cy="18288"/>
          </a:xfrm>
          <a:prstGeom prst="rect">
            <a:avLst/>
          </a:prstGeom>
          <a:solidFill>
            <a:srgbClr val="6FA56B"/>
          </a:solidFill>
          <a:ln w="12700">
            <a:solidFill>
              <a:srgbClr val="6FA56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658368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Lappe Properties  |  Partner Alignment  |  Confidential Draft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430000" y="658368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6FA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4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Childcare demand exceeds supply. Rental yields compress.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5486400" cy="1737360"/>
          </a:xfrm>
          <a:prstGeom prst="rect">
            <a:avLst/>
          </a:prstGeom>
          <a:solidFill>
            <a:srgbClr val="F5F2E8"/>
          </a:solidFill>
          <a:ln w="12700">
            <a:solidFill>
              <a:srgbClr val="F5F2E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2423160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4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51%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3200400" y="251460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U.S. families live in a childcare desert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200400" y="33832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Center for American Progress, 2024 baseline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217920" y="2286000"/>
            <a:ext cx="5486400" cy="1737360"/>
          </a:xfrm>
          <a:prstGeom prst="rect">
            <a:avLst/>
          </a:prstGeom>
          <a:solidFill>
            <a:srgbClr val="F5F2E8"/>
          </a:solidFill>
          <a:ln w="12700">
            <a:solidFill>
              <a:srgbClr val="F5F2E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92240" y="2423160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4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12mo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8869680" y="251460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childcare waitlist in working-family markets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869680" y="33832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 for pricing power and occupancy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48640" y="4206240"/>
            <a:ext cx="5486400" cy="1737360"/>
          </a:xfrm>
          <a:prstGeom prst="rect">
            <a:avLst/>
          </a:prstGeom>
          <a:solidFill>
            <a:srgbClr val="F5F2E8"/>
          </a:solidFill>
          <a:ln w="12700">
            <a:solidFill>
              <a:srgbClr val="F5F2E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22960" y="4343400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4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27.5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3200400" y="443484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MACRS depreciation on residential converts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200400" y="53035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 shield preserved through use change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217920" y="4206240"/>
            <a:ext cx="5486400" cy="1737360"/>
          </a:xfrm>
          <a:prstGeom prst="rect">
            <a:avLst/>
          </a:prstGeom>
          <a:solidFill>
            <a:srgbClr val="F5F2E8"/>
          </a:solidFill>
          <a:ln w="12700">
            <a:solidFill>
              <a:srgbClr val="F5F2E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92240" y="4343400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4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3-5x</a:t>
            </a:r>
            <a:endParaRPr lang="en-US" sz="4400" dirty="0"/>
          </a:p>
        </p:txBody>
      </p:sp>
      <p:sp>
        <p:nvSpPr>
          <p:cNvPr id="18" name="Text 16"/>
          <p:cNvSpPr/>
          <p:nvPr/>
        </p:nvSpPr>
        <p:spPr>
          <a:xfrm>
            <a:off x="8869680" y="443484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per square foot vs standard rental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869680" y="53035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model, market-dependent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0" y="6537960"/>
            <a:ext cx="12161520" cy="18288"/>
          </a:xfrm>
          <a:prstGeom prst="rect">
            <a:avLst/>
          </a:prstGeom>
          <a:solidFill>
            <a:srgbClr val="6FA56B"/>
          </a:solidFill>
          <a:ln w="12700">
            <a:solidFill>
              <a:srgbClr val="6FA56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658368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Lappe Properties  |  Partner Alignment  |  Confidential Draft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430000" y="658368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2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6FA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4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tracks. One pipeline.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54864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6FA56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2286000"/>
            <a:ext cx="5486400" cy="457200"/>
          </a:xfrm>
          <a:prstGeom prst="rect">
            <a:avLst/>
          </a:prstGeom>
          <a:solidFill>
            <a:srgbClr val="6FA56B"/>
          </a:solidFill>
          <a:ln w="12700">
            <a:solidFill>
              <a:srgbClr val="6FA5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3317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A  ·  RENTAL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7240" y="288036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Hold and lease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77240" y="3520440"/>
            <a:ext cx="50292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Acquire single-family in target zoning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Lease to long-term tenants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Bothell, WA property runs on this track today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Predictable cash flow, slower growth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309360" y="2286000"/>
            <a:ext cx="54864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1F4D2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309360" y="2286000"/>
            <a:ext cx="5486400" cy="457200"/>
          </a:xfrm>
          <a:prstGeom prst="rect">
            <a:avLst/>
          </a:prstGeom>
          <a:solidFill>
            <a:srgbClr val="1F4D2E"/>
          </a:solidFill>
          <a:ln w="12700">
            <a:solidFill>
              <a:srgbClr val="1F4D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37960" y="23317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B8D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B  ·  LICENSED DAYCARE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537960" y="288036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Convert and operate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6537960" y="3520440"/>
            <a:ext cx="50292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Acquire homes that meet licensing footprint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Permit, modify, license as in-home childcare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Operate or lease to a licensed provider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Materially higher revenue per square foot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lift, regulatory complexity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0" y="6537960"/>
            <a:ext cx="12161520" cy="18288"/>
          </a:xfrm>
          <a:prstGeom prst="rect">
            <a:avLst/>
          </a:prstGeom>
          <a:solidFill>
            <a:srgbClr val="6FA56B"/>
          </a:solidFill>
          <a:ln w="12700">
            <a:solidFill>
              <a:srgbClr val="6FA5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658368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Lappe Properties  |  Partner Alignment  |  Confidential Draft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430000" y="658368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6FA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number that matters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4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Revenue per square foot</a:t>
            </a:r>
            <a:endParaRPr lang="en-US" sz="4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2194560"/>
          <a:ext cx="685800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863840" y="2194560"/>
            <a:ext cx="3931920" cy="3840480"/>
          </a:xfrm>
          <a:prstGeom prst="rect">
            <a:avLst/>
          </a:prstGeom>
          <a:solidFill>
            <a:srgbClr val="F5F2E8"/>
          </a:solidFill>
          <a:ln w="12700">
            <a:solidFill>
              <a:srgbClr val="F5F2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863840" y="2194560"/>
            <a:ext cx="91440" cy="3840480"/>
          </a:xfrm>
          <a:prstGeom prst="rect">
            <a:avLst/>
          </a:prstGeom>
          <a:solidFill>
            <a:srgbClr val="B8D84A"/>
          </a:solidFill>
          <a:ln w="12700">
            <a:solidFill>
              <a:srgbClr val="B8D84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092440" y="237744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1F4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4x</a:t>
            </a:r>
            <a:endParaRPr lang="en-US" sz="11000" dirty="0"/>
          </a:p>
        </p:txBody>
      </p:sp>
      <p:sp>
        <p:nvSpPr>
          <p:cNvPr id="8" name="Text 5"/>
          <p:cNvSpPr/>
          <p:nvPr/>
        </p:nvSpPr>
        <p:spPr>
          <a:xfrm>
            <a:off x="8092440" y="393192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revenue from the same footprint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92440" y="502920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model. Final numbers tied to specific market, licensed capacity, and operating cost.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48640" y="61722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 above are working assumptions for partner discussion. Confirm before any external use.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0" y="6537960"/>
            <a:ext cx="12161520" cy="18288"/>
          </a:xfrm>
          <a:prstGeom prst="rect">
            <a:avLst/>
          </a:prstGeom>
          <a:solidFill>
            <a:srgbClr val="6FA56B"/>
          </a:solidFill>
          <a:ln w="12700">
            <a:solidFill>
              <a:srgbClr val="6FA56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658368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Lappe Properties  |  Partner Alignment  |  Confidential Draft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430000" y="658368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2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6FA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economics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4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property, two outcomes</a:t>
            </a:r>
            <a:endParaRPr lang="en-US" sz="3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94560"/>
          <a:ext cx="11064240" cy="3200400"/>
        </p:xfrm>
        <a:graphic>
          <a:graphicData uri="http://schemas.openxmlformats.org/drawingml/2006/table">
            <a:tbl>
              <a:tblPr/>
              <a:tblGrid>
                <a:gridCol w="3657600"/>
                <a:gridCol w="2468880"/>
                <a:gridCol w="2468880"/>
                <a:gridCol w="246888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 item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Rental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A5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B8D8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Daycare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Delta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D2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Usable square feet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Licensed capacity (children)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Gross annual revenue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$36,000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4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$144,000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4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+$108,000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Operating expenses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$10,000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$72,000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+$62,000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 operating income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$26,000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4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$72,000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4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+$46,000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 per square foot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4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4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4.0x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5778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working model for a 2,000 sq ft home. Replace with property-specific underwriting before commit.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0" y="6537960"/>
            <a:ext cx="12161520" cy="18288"/>
          </a:xfrm>
          <a:prstGeom prst="rect">
            <a:avLst/>
          </a:prstGeom>
          <a:solidFill>
            <a:srgbClr val="6FA56B"/>
          </a:solidFill>
          <a:ln w="12700">
            <a:solidFill>
              <a:srgbClr val="6FA56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658368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Lappe Properties  |  Partner Alignment  |  Confidential Draft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430000" y="658368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6FA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4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Property pipeline and target profile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5486400" cy="3931920"/>
          </a:xfrm>
          <a:prstGeom prst="rect">
            <a:avLst/>
          </a:prstGeom>
          <a:solidFill>
            <a:srgbClr val="F5F2E8"/>
          </a:solidFill>
          <a:ln w="12700">
            <a:solidFill>
              <a:srgbClr val="F5F2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23317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FA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" y="265176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4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Bothell, WA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777240" y="3383280"/>
            <a:ext cx="50292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rental, performing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A baseline for comparison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Track B feasibility in 2026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consolidates under Green Lappe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309360" y="2194560"/>
            <a:ext cx="5486400" cy="3931920"/>
          </a:xfrm>
          <a:prstGeom prst="rect">
            <a:avLst/>
          </a:prstGeom>
          <a:solidFill>
            <a:srgbClr val="1F4D2E"/>
          </a:solidFill>
          <a:ln w="12700">
            <a:solidFill>
              <a:srgbClr val="1F4D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37960" y="23317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8D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ACQUISITION PROFILE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537960" y="265176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buy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6537960" y="3383280"/>
            <a:ext cx="50292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Single-family, 1,800-2,800 sq ft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Zoning allows in-home childcare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Yard, off-street parking, ground floor access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Markets with childcare waitlists, working families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supports both rental and daycare exit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0" y="6537960"/>
            <a:ext cx="12161520" cy="18288"/>
          </a:xfrm>
          <a:prstGeom prst="rect">
            <a:avLst/>
          </a:prstGeom>
          <a:solidFill>
            <a:srgbClr val="6FA56B"/>
          </a:solidFill>
          <a:ln w="12700">
            <a:solidFill>
              <a:srgbClr val="6FA56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658368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Lappe Properties  |  Partner Alignment  |  Confidential Draft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430000" y="658368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2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6FA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4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Who owns what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54864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6FA56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2423160"/>
            <a:ext cx="914400" cy="914400"/>
          </a:xfrm>
          <a:prstGeom prst="ellipse">
            <a:avLst/>
          </a:prstGeom>
          <a:solidFill>
            <a:srgbClr val="B8D84A"/>
          </a:solidFill>
          <a:ln w="12700">
            <a:solidFill>
              <a:srgbClr val="B8D8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46888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F4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MG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1828800" y="24688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Megan Green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828800" y="29260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FA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and licensing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" y="3657600"/>
            <a:ext cx="5029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Daycare licensing and compliance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relationships and staffing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On-site property operations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project management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309360" y="2194560"/>
            <a:ext cx="54864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1F4D2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537960" y="2423160"/>
            <a:ext cx="914400" cy="914400"/>
          </a:xfrm>
          <a:prstGeom prst="ellipse">
            <a:avLst/>
          </a:prstGeom>
          <a:solidFill>
            <a:srgbClr val="1F4D2E"/>
          </a:solidFill>
          <a:ln w="12700">
            <a:solidFill>
              <a:srgbClr val="1F4D2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37960" y="246888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B8D8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KL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7589520" y="24688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Kevin Lappe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589520" y="29260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FA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and strategy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537960" y="3657600"/>
            <a:ext cx="5029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Acquisition and underwriting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structure and tax strategy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Systems, reporting, and analytics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Bothell property transition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0" y="6537960"/>
            <a:ext cx="12161520" cy="18288"/>
          </a:xfrm>
          <a:prstGeom prst="rect">
            <a:avLst/>
          </a:prstGeom>
          <a:solidFill>
            <a:srgbClr val="6FA56B"/>
          </a:solidFill>
          <a:ln w="12700">
            <a:solidFill>
              <a:srgbClr val="6FA56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658368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Lappe Properties  |  Partner Alignment  |  Confidential Draft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430000" y="658368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6FA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4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Next 90 days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1097280" y="3657600"/>
            <a:ext cx="9966960" cy="36576"/>
          </a:xfrm>
          <a:prstGeom prst="rect">
            <a:avLst/>
          </a:prstGeom>
          <a:solidFill>
            <a:srgbClr val="6FA56B"/>
          </a:solidFill>
          <a:ln w="12700">
            <a:solidFill>
              <a:srgbClr val="6FA56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88720" y="3493008"/>
            <a:ext cx="365760" cy="365760"/>
          </a:xfrm>
          <a:prstGeom prst="ellipse">
            <a:avLst/>
          </a:prstGeom>
          <a:solidFill>
            <a:srgbClr val="1F4D2E"/>
          </a:solidFill>
          <a:ln w="12700">
            <a:solidFill>
              <a:srgbClr val="1F4D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3511296"/>
            <a:ext cx="365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8D8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0" y="2377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6FA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0" y="2697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4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Partnership terms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0" y="402336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LLC formed, operating agreement, capital split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89120" y="3493008"/>
            <a:ext cx="365760" cy="365760"/>
          </a:xfrm>
          <a:prstGeom prst="ellipse">
            <a:avLst/>
          </a:prstGeom>
          <a:solidFill>
            <a:srgbClr val="1F4D2E"/>
          </a:solidFill>
          <a:ln w="12700">
            <a:solidFill>
              <a:srgbClr val="1F4D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0" y="3511296"/>
            <a:ext cx="365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8D8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200400" y="2377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6FA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200400" y="2697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4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Bothell baseline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200400" y="402336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transition, performance baseline locked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589520" y="3493008"/>
            <a:ext cx="365760" cy="365760"/>
          </a:xfrm>
          <a:prstGeom prst="ellipse">
            <a:avLst/>
          </a:prstGeom>
          <a:solidFill>
            <a:srgbClr val="1F4D2E"/>
          </a:solidFill>
          <a:ln w="12700">
            <a:solidFill>
              <a:srgbClr val="1F4D2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589520" y="3511296"/>
            <a:ext cx="365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8D8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00800" y="2377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6FA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0" y="2697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4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First daycare target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400800" y="402336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and underwrite first conversion candidate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10789920" y="3493008"/>
            <a:ext cx="365760" cy="365760"/>
          </a:xfrm>
          <a:prstGeom prst="ellipse">
            <a:avLst/>
          </a:prstGeom>
          <a:solidFill>
            <a:srgbClr val="1F4D2E"/>
          </a:solidFill>
          <a:ln w="12700">
            <a:solidFill>
              <a:srgbClr val="1F4D2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789920" y="3511296"/>
            <a:ext cx="365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8D8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601200" y="2377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6FA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601200" y="2697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4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Licensing path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9601200" y="402336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Pre-application meeting with licensing authority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0" y="6537960"/>
            <a:ext cx="12161520" cy="18288"/>
          </a:xfrm>
          <a:prstGeom prst="rect">
            <a:avLst/>
          </a:prstGeom>
          <a:solidFill>
            <a:srgbClr val="6FA56B"/>
          </a:solidFill>
          <a:ln w="12700">
            <a:solidFill>
              <a:srgbClr val="6FA56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658368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Lappe Properties  |  Partner Alignment  |  Confidential Draft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430000" y="658368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F4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B8D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Decisions we need to make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228600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B8D8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2011680" y="242316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Equity split and capital contribution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3246120"/>
            <a:ext cx="11064240" cy="9144"/>
          </a:xfrm>
          <a:prstGeom prst="rect">
            <a:avLst/>
          </a:prstGeom>
          <a:solidFill>
            <a:srgbClr val="6FA56B">
              <a:alpha val="50000"/>
            </a:srgbClr>
          </a:solidFill>
          <a:ln w="12700">
            <a:solidFill>
              <a:srgbClr val="6FA56B">
                <a:alpha val="5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329184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B8D8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2011680" y="342900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focus for first acquisition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548640" y="4251960"/>
            <a:ext cx="11064240" cy="9144"/>
          </a:xfrm>
          <a:prstGeom prst="rect">
            <a:avLst/>
          </a:prstGeom>
          <a:solidFill>
            <a:srgbClr val="6FA56B">
              <a:alpha val="50000"/>
            </a:srgbClr>
          </a:solidFill>
          <a:ln w="12700">
            <a:solidFill>
              <a:srgbClr val="6FA56B">
                <a:alpha val="5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429768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B8D8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2011680" y="443484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entity structure (LLC, election)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548640" y="5257800"/>
            <a:ext cx="11064240" cy="9144"/>
          </a:xfrm>
          <a:prstGeom prst="rect">
            <a:avLst/>
          </a:prstGeom>
          <a:solidFill>
            <a:srgbClr val="6FA56B">
              <a:alpha val="50000"/>
            </a:srgbClr>
          </a:solidFill>
          <a:ln w="12700">
            <a:solidFill>
              <a:srgbClr val="6FA56B">
                <a:alpha val="5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530352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B8D8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4800" dirty="0"/>
          </a:p>
        </p:txBody>
      </p:sp>
      <p:sp>
        <p:nvSpPr>
          <p:cNvPr id="14" name="Text 12"/>
          <p:cNvSpPr/>
          <p:nvPr/>
        </p:nvSpPr>
        <p:spPr>
          <a:xfrm>
            <a:off x="2011680" y="544068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Cadence for partner reviews and decision rights</a:t>
            </a:r>
            <a:endParaRPr lang="en-US" sz="2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B8D8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1200" kern="0" dirty="0">
                <a:solidFill>
                  <a:srgbClr val="1F4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48640" y="3291840"/>
            <a:ext cx="10972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1F4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Branding system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548640" y="44805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1F4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Name, voice, taglines, palette, typography.</a:t>
            </a:r>
            <a:endParaRPr 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6FA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4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Name, pronunciation, voice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5486400" cy="3931920"/>
          </a:xfrm>
          <a:prstGeom prst="rect">
            <a:avLst/>
          </a:prstGeom>
          <a:solidFill>
            <a:srgbClr val="F5F2E8"/>
          </a:solidFill>
          <a:ln w="12700">
            <a:solidFill>
              <a:srgbClr val="F5F2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23774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FA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" y="269748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4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Green Lappe Properties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777240" y="34747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FA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PRONUNCIATION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" y="37947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LAP-ee. Rhymes with happy.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77240" y="44348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FA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MEANING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77240" y="4754880"/>
            <a:ext cx="5029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partner surnames. Built-in shorthand for growth, money, environment, and family.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309360" y="2194560"/>
            <a:ext cx="5486400" cy="3931920"/>
          </a:xfrm>
          <a:prstGeom prst="rect">
            <a:avLst/>
          </a:prstGeom>
          <a:solidFill>
            <a:srgbClr val="1F4D2E"/>
          </a:solidFill>
          <a:ln w="12700">
            <a:solidFill>
              <a:srgbClr val="1F4D2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37960" y="23774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8D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537960" y="269748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Plain. Direct. A little dry.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6537960" y="3566160"/>
            <a:ext cx="50292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verbs. Short sentences.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 talk allowed. So is humor.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earned through numbers, not adjectives.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twee. Never corporate.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0" y="6537960"/>
            <a:ext cx="12161520" cy="18288"/>
          </a:xfrm>
          <a:prstGeom prst="rect">
            <a:avLst/>
          </a:prstGeom>
          <a:solidFill>
            <a:srgbClr val="6FA56B"/>
          </a:solidFill>
          <a:ln w="12700">
            <a:solidFill>
              <a:srgbClr val="6FA56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658368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Lappe Properties  |  Partner Alignment  |  Confidential Draft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430000" y="658368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2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6FA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4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Tagline system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54864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2286000"/>
            <a:ext cx="91440" cy="1737360"/>
          </a:xfrm>
          <a:prstGeom prst="rect">
            <a:avLst/>
          </a:prstGeom>
          <a:solidFill>
            <a:srgbClr val="B8D84A"/>
          </a:solidFill>
          <a:ln w="12700">
            <a:solidFill>
              <a:srgbClr val="B8D8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4688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FA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22960" y="278892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1F4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grass is greener on this side.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22960" y="35661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 line. Top of deck, top of site, business card.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17920" y="2286000"/>
            <a:ext cx="54864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217920" y="2286000"/>
            <a:ext cx="91440" cy="1737360"/>
          </a:xfrm>
          <a:prstGeom prst="rect">
            <a:avLst/>
          </a:prstGeom>
          <a:solidFill>
            <a:srgbClr val="B8D84A"/>
          </a:solidFill>
          <a:ln w="12700">
            <a:solidFill>
              <a:srgbClr val="B8D8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0" y="24688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FA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92240" y="278892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1F4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save you green.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492240" y="35661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and partner pitch contexts. Money lens.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4206240"/>
            <a:ext cx="54864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48640" y="4206240"/>
            <a:ext cx="91440" cy="1737360"/>
          </a:xfrm>
          <a:prstGeom prst="rect">
            <a:avLst/>
          </a:prstGeom>
          <a:solidFill>
            <a:srgbClr val="B8D84A"/>
          </a:solidFill>
          <a:ln w="12700">
            <a:solidFill>
              <a:srgbClr val="B8D8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43891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FA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22960" y="470916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1F4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Green light to grow.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822960" y="54864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Acquisition and expansion announcements.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17920" y="4206240"/>
            <a:ext cx="54864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217920" y="4206240"/>
            <a:ext cx="91440" cy="1737360"/>
          </a:xfrm>
          <a:prstGeom prst="rect">
            <a:avLst/>
          </a:prstGeom>
          <a:solidFill>
            <a:srgbClr val="B8D84A"/>
          </a:solidFill>
          <a:ln w="12700">
            <a:solidFill>
              <a:srgbClr val="B8D8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92240" y="43891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FA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492240" y="470916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1F4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things grow.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492240" y="54864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listings, daycare-facing materials.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0" y="6537960"/>
            <a:ext cx="12161520" cy="18288"/>
          </a:xfrm>
          <a:prstGeom prst="rect">
            <a:avLst/>
          </a:prstGeom>
          <a:solidFill>
            <a:srgbClr val="6FA56B"/>
          </a:solidFill>
          <a:ln w="12700">
            <a:solidFill>
              <a:srgbClr val="6FA56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658368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Lappe Properties  |  Partner Alignment  |  Confidential Draft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430000" y="658368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6FA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4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Palette and type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21945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FA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PALETTE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2560320"/>
            <a:ext cx="1280160" cy="1280160"/>
          </a:xfrm>
          <a:prstGeom prst="rect">
            <a:avLst/>
          </a:prstGeom>
          <a:solidFill>
            <a:srgbClr val="1F4D2E"/>
          </a:solidFill>
          <a:ln w="12700">
            <a:solidFill>
              <a:srgbClr val="1F4D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39319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Forest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420624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#1F4D2E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443484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FA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965960" y="2560320"/>
            <a:ext cx="1280160" cy="1280160"/>
          </a:xfrm>
          <a:prstGeom prst="rect">
            <a:avLst/>
          </a:prstGeom>
          <a:solidFill>
            <a:srgbClr val="6FA56B"/>
          </a:solidFill>
          <a:ln w="12700">
            <a:solidFill>
              <a:srgbClr val="6FA5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65960" y="39319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965960" y="420624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#6FA56B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965960" y="443484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FA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383280" y="2560320"/>
            <a:ext cx="1280160" cy="1280160"/>
          </a:xfrm>
          <a:prstGeom prst="rect">
            <a:avLst/>
          </a:prstGeom>
          <a:solidFill>
            <a:srgbClr val="B8D84A"/>
          </a:solidFill>
          <a:ln w="12700">
            <a:solidFill>
              <a:srgbClr val="B8D8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83280" y="39319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383280" y="420624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#B8D84A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383280" y="443484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FA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Accent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800600" y="2560320"/>
            <a:ext cx="1280160" cy="1280160"/>
          </a:xfrm>
          <a:prstGeom prst="rect">
            <a:avLst/>
          </a:prstGeom>
          <a:solidFill>
            <a:srgbClr val="F5F2E8"/>
          </a:solidFill>
          <a:ln w="6350">
            <a:solidFill>
              <a:srgbClr val="5C6B5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00600" y="39319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Cream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00600" y="420624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#F5F2E8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00600" y="443484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FA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00800" y="21945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FA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TYPOGRAPHY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00800" y="2468880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1F4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Aa</a:t>
            </a:r>
            <a:endParaRPr lang="en-US" sz="9600" dirty="0"/>
          </a:p>
        </p:txBody>
      </p:sp>
      <p:sp>
        <p:nvSpPr>
          <p:cNvPr id="23" name="Text 21"/>
          <p:cNvSpPr/>
          <p:nvPr/>
        </p:nvSpPr>
        <p:spPr>
          <a:xfrm>
            <a:off x="6400800" y="39319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Georgia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400800" y="42976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Headlines, taglines, big numbers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961120" y="2468880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dirty="0">
                <a:solidFill>
                  <a:srgbClr val="1F4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</a:t>
            </a:r>
            <a:endParaRPr lang="en-US" sz="9600" dirty="0"/>
          </a:p>
        </p:txBody>
      </p:sp>
      <p:sp>
        <p:nvSpPr>
          <p:cNvPr id="26" name="Text 24"/>
          <p:cNvSpPr/>
          <p:nvPr/>
        </p:nvSpPr>
        <p:spPr>
          <a:xfrm>
            <a:off x="8961120" y="39319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Calibri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961120" y="42976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Body, labels, tables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48640" y="5120640"/>
            <a:ext cx="11064240" cy="960120"/>
          </a:xfrm>
          <a:prstGeom prst="rect">
            <a:avLst/>
          </a:prstGeom>
          <a:solidFill>
            <a:srgbClr val="F5F2E8"/>
          </a:solidFill>
          <a:ln w="12700">
            <a:solidFill>
              <a:srgbClr val="F5F2E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77240" y="525780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i="1" dirty="0">
                <a:solidFill>
                  <a:srgbClr val="1F4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save you green.</a:t>
            </a:r>
            <a:endParaRPr lang="en-US" sz="3600" dirty="0"/>
          </a:p>
        </p:txBody>
      </p:sp>
      <p:sp>
        <p:nvSpPr>
          <p:cNvPr id="30" name="Shape 28"/>
          <p:cNvSpPr/>
          <p:nvPr/>
        </p:nvSpPr>
        <p:spPr>
          <a:xfrm>
            <a:off x="0" y="6537960"/>
            <a:ext cx="12161520" cy="18288"/>
          </a:xfrm>
          <a:prstGeom prst="rect">
            <a:avLst/>
          </a:prstGeom>
          <a:solidFill>
            <a:srgbClr val="6FA56B"/>
          </a:solidFill>
          <a:ln w="12700">
            <a:solidFill>
              <a:srgbClr val="6FA56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658368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Lappe Properties  |  Partner Alignment  |  Confidential Draft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430000" y="658368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F4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0"/>
            <a:ext cx="10972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i="1" dirty="0">
                <a:solidFill>
                  <a:srgbClr val="B8D8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Green light to grow.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400" kern="0" dirty="0">
                <a:solidFill>
                  <a:srgbClr val="6FA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Megan Green  +  Kevin Lappe  ·  Green Lappe Properties  ·  2026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Green Lappe Properties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Green Lappe Properties — Partner Alignment</dc:title>
  <dc:subject>PptxGenJS Presentation</dc:subject>
  <dc:creator>Kevin Lappe</dc:creator>
  <cp:lastModifiedBy>Kevin Lappe</cp:lastModifiedBy>
  <cp:revision>1</cp:revision>
  <dcterms:created xsi:type="dcterms:W3CDTF">2026-05-19T22:22:23Z</dcterms:created>
  <dcterms:modified xsi:type="dcterms:W3CDTF">2026-05-19T22:22:23Z</dcterms:modified>
</cp:coreProperties>
</file>