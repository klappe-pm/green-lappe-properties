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ALIGNMENT  ·  v2  ·  MAY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43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spc="-200" kern="0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spc="-100" kern="0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548640" y="5212080"/>
            <a:ext cx="91440" cy="91440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212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property. Our problem.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management for King and Snohomish counties.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property management company.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fund. Not an acquisition vehicle. An operating company.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C9AE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560320"/>
            <a:ext cx="91440" cy="365760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paying customer.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Rate-locked, holding the home, renting it 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of managers who disappear after signing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someone to actually answer the phone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the books transparent, the vendors vetted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out of DIY without joining a national rollup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C9AE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560320"/>
            <a:ext cx="91440" cy="365760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served customer.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703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of being treated as a problem to be managed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requests vanish into portals for weeks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Move-out deductions feel arbitrary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increases land by surprise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ever named, no one ever accountable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Rate-locked owners are becoming landlords.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and Snohomish counties are turning into a rental market because owners cannot afford to sell.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86400" cy="1645920"/>
          </a:xfrm>
          <a:prstGeom prst="rect">
            <a:avLst/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51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55-62%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King and Snohomish mortgage holders sit below 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FHFA NMDB + WA state decay 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2560320"/>
            <a:ext cx="5486400" cy="1645920"/>
          </a:xfrm>
          <a:prstGeom prst="rect">
            <a:avLst/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651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6968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present-value benefit of an average locked-in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Fonseca and Liu, J. of Finance 2024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486400" cy="1645920"/>
          </a:xfrm>
          <a:prstGeom prst="rect">
            <a:avLst/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480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00400" y="4572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metro accidental landlord rate, above the 2.3% national average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4389120"/>
            <a:ext cx="5486400" cy="1645920"/>
          </a:xfrm>
          <a:prstGeom prst="rect">
            <a:avLst/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480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250K+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869680" y="4572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rate-locked owner-occupied households across the two counties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Triangulated from 460K total mortgaged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property management fails both sides.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3657600" cy="4572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requests vanish into portals. Vendors marked up 10-15%. No photos, no follow-up.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194560"/>
            <a:ext cx="3657600" cy="4572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fees, renter benefits packages, pet rent on top of pet deposits. Owner statements opaque.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9456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2194560"/>
            <a:ext cx="3657600" cy="4572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account managers. Outsourced support queues. Hard questions go evasive.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60520"/>
            <a:ext cx="3657600" cy="4572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renews leases and authorizes repairs without owner sign-off. Owner finds out after.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16052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4160520"/>
            <a:ext cx="3657600" cy="4572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Move-out deductions feel arbitrary. Returns slow. One-third to one-half of tenant-rights calls.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416052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4160520"/>
            <a:ext cx="3657600" cy="4572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charge more for it, owners pay for it, it still gets done badly. Especially Seattle's 24+ ordinances.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commitments competitors don't make.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promise is enforceable at the policy layer, not the marketing layer.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fix-or-explain on habitability issues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Same-business-day acknowledgement on every owner inquiry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463040" y="3794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vendor pricing with original invoices attached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132320" y="3794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no-fault termination, either direction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63040" y="4983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returns inside the WA statutory window with photo itemization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132320" y="4983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property review for every owner, every year, no extra fee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owner paths. One operating model.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accidental landlord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of one or two homes, often inherited or held after moving. Not a professional investor.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365760" cy="27432"/>
          </a:xfrm>
          <a:prstGeom prst="rect">
            <a:avLst/>
          </a:prstGeom>
          <a:solidFill>
            <a:srgbClr val="3E8B62"/>
          </a:solidFill>
          <a:ln w="12700">
            <a:solidFill>
              <a:srgbClr val="3E8B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the property managed without becoming an operator.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657600" cy="411480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  <a:effectLst>
            <a:outerShdw sx="100000" sy="100000" kx="0" ky="0" algn="bl" rotWithShape="0" blurRad="152400" dist="38100" dir="5400000">
              <a:srgbClr val="0F3A26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 ·  THE WEDGE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convert-to-rental owner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Rate-locked. Moving on with life, keeping the home. Currently DIY or about to be.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5120640"/>
            <a:ext cx="365760" cy="27432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HO-3 to DP-3, lease, tenant placement, ongoing management. End-to-end.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19456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small-portfolio investor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703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2-10 doors in King or Snohomish. Treats real estate as meaningful net worth.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5120640"/>
            <a:ext cx="365760" cy="27432"/>
          </a:xfrm>
          <a:prstGeom prst="rect">
            <a:avLst/>
          </a:prstGeom>
          <a:solidFill>
            <a:srgbClr val="3E8B62"/>
          </a:solidFill>
          <a:ln w="12700">
            <a:solidFill>
              <a:srgbClr val="3E8B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better data, lower fee load, exit from a manager gone bad.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End-to-end: owner converts, we manage.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managers list a ready rental. We start before there is a rental at all.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251960"/>
            <a:ext cx="10424160" cy="27432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4023360"/>
            <a:ext cx="502920" cy="502920"/>
          </a:xfrm>
          <a:prstGeom prst="ellipse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032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" y="47548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HO-3 to DP-3, lender notice, LLC question, tax setup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4023360"/>
            <a:ext cx="502920" cy="502920"/>
          </a:xfrm>
          <a:prstGeom prst="ellipse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4032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2316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23160" y="47548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report, repairs, photo walkthrough, market price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4023360"/>
            <a:ext cx="502920" cy="502920"/>
          </a:xfrm>
          <a:prstGeom prst="ellipse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4032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47548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Listing, screening, lease, move-in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4023360"/>
            <a:ext cx="502920" cy="502920"/>
          </a:xfrm>
          <a:prstGeom prst="ellipse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4032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60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47548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SLAs, rent collection, owner statements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32720" y="4023360"/>
            <a:ext cx="502920" cy="502920"/>
          </a:xfrm>
          <a:prstGeom prst="ellipse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4032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18320" y="47548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packet, renewal call, capex plan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DIY landlords keep HO-3 in force after converting. That voids coverage after 30 days as a rental. Bundling DP-3 conversion at onboarding is a clear value-add and a liability prevention service.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Now. Next. Later.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57600" cy="420624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0-12 months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Bothell under the new brand and contract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two additional residential properties by referral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Convert-to-rental as the differentiator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fee schedule, owner statements, SLAs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operational discipline before scale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657600" cy="4206240"/>
          </a:xfrm>
          <a:prstGeom prst="rect">
            <a:avLst/>
          </a:prstGeom>
          <a:solidFill>
            <a:srgbClr val="3E8B62"/>
          </a:solidFill>
          <a:ln w="12700">
            <a:solidFill>
              <a:srgbClr val="3E8B6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daycare wedge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79476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Pre-qualify three licensed FCC providers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two properties that fit the conversion profile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Carrier-shop insurance for mixed-use exposure first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as upside, not core revenue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management must be viable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194560"/>
            <a:ext cx="3657600" cy="4206240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Scale, then geography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79476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doors-per-coordinator at 100-125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managing broker at 100 doors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HOA or small multifamily vertical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Snohomish-only vs. full two-county model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sub-marks only if earned, not before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Leased Months is the north star.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door is consistent. The lever is keeping doors occupied with the right tenants for longer.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CAC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once. Amortized over owner tenure.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marketing targeted at owners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 of conversion labor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per owner is the multiplier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owner tenure = lower lifetime CAC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606040"/>
            <a:ext cx="5486400" cy="365760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CAC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every turnover. Tenure is the asset.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37490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Listing, screening, leasing, move-in costs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every time a door turns over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renter tenure is the highest-leverage input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Leased Months in the portfolio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NOT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we're different from the incumbents.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347472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749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BC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Green Lappe is different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rollup (Mynd, Evernest acquirees)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platform, call center, opaque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named contacts, transparent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local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Owner-operated but inconsistent, paper-based, ghosts both sides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local presence with modern systems and SLAs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Realtor-side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Treats management as a loss leader to win listings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is the product, not a funnel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platform (Avail, TurboTenant)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does the work themselves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5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up tier when DIY breaks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named human, twice.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03520" cy="4114800"/>
          </a:xfrm>
          <a:prstGeom prst="rect">
            <a:avLst/>
          </a:prstGeom>
          <a:solidFill>
            <a:srgbClr val="F7F4EE"/>
          </a:solidFill>
          <a:ln w="12700">
            <a:solidFill>
              <a:srgbClr val="9BC9AE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68880"/>
            <a:ext cx="1005840" cy="1005840"/>
          </a:xfrm>
          <a:prstGeom prst="ellipse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8716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broker. Public face.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management agreements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relationships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escalations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voice owner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property reviews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03520" cy="4114800"/>
          </a:xfrm>
          <a:prstGeom prst="rect">
            <a:avLst/>
          </a:prstGeom>
          <a:solidFill>
            <a:srgbClr val="F7F4EE"/>
          </a:solidFill>
          <a:ln w="12700">
            <a:solidFill>
              <a:srgbClr val="9BC9AE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468880"/>
            <a:ext cx="1005840" cy="1005840"/>
          </a:xfrm>
          <a:prstGeom prst="ellipse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48716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Kevin Lappe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partner.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reporting, finance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fee schedule, statements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calendar, trust accounting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baseline transition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and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Now horizon, broken out.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2697480" cy="73152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LLC, broker license verified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management transition completes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schedule published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974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2194560"/>
            <a:ext cx="2697480" cy="73152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referrals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two properties from network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convert-to-rental playbook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owner annual review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974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194560"/>
            <a:ext cx="2697480" cy="73152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rhythm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statement cycle steady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move-out cycle end-to-end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inbound from fee transparency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194560"/>
            <a:ext cx="26974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5B5B5"/>
            </a:solidFill>
            <a:prstDash val="solid"/>
          </a:ln>
          <a:effectLst>
            <a:outerShdw sx="100000" sy="100000" kx="0" ky="0" algn="bl" rotWithShape="0" blurRad="101600" dist="25400" dir="5400000">
              <a:srgbClr val="0F3A26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2194560"/>
            <a:ext cx="2697480" cy="73152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and decide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35440" y="347472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seven doors managed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CAC and tenure baselined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on Next horizon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before we leave the table.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164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entity: single LLC, or PropCo and OpCo split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9144"/>
          </a:xfrm>
          <a:prstGeom prst="rect">
            <a:avLst/>
          </a:prstGeom>
          <a:solidFill>
            <a:srgbClr val="3E8B62">
              <a:alpha val="50000"/>
            </a:srgbClr>
          </a:solidFill>
          <a:ln w="12700">
            <a:solidFill>
              <a:srgbClr val="3E8B6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9164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at launch: full two counties, or Bothell-Mill Creek-Kirkland corridor first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9144"/>
          </a:xfrm>
          <a:prstGeom prst="rect">
            <a:avLst/>
          </a:prstGeom>
          <a:solidFill>
            <a:srgbClr val="3E8B62">
              <a:alpha val="50000"/>
            </a:srgbClr>
          </a:solidFill>
          <a:ln w="12700">
            <a:solidFill>
              <a:srgbClr val="3E8B62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49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69164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model: flat fee, percent of rent, or hybrid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64240" cy="9144"/>
          </a:xfrm>
          <a:prstGeom prst="rect">
            <a:avLst/>
          </a:prstGeom>
          <a:solidFill>
            <a:srgbClr val="3E8B62">
              <a:alpha val="50000"/>
            </a:srgbClr>
          </a:solidFill>
          <a:ln w="12700">
            <a:solidFill>
              <a:srgbClr val="3E8B62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26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91640" y="4617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split and decision rights between partners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1064240" cy="9144"/>
          </a:xfrm>
          <a:prstGeom prst="rect">
            <a:avLst/>
          </a:prstGeom>
          <a:solidFill>
            <a:srgbClr val="3E8B62">
              <a:alpha val="50000"/>
            </a:srgbClr>
          </a:solidFill>
          <a:ln w="12700">
            <a:solidFill>
              <a:srgbClr val="3E8B62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03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691640" y="5394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or Kevin on the management agreement signature line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9BC9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0" kern="0" dirty="0">
                <a:solidFill>
                  <a:srgbClr val="0F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3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system.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3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Tokens, voice, taglines. Companion to green-lappe-brand-system.md.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voice, what we never say.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03520" cy="402336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 Properties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LAP-ee. Rhymes with happy.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 is the lead, the name is hers first. Green also reads as financial growth and Pacific Northwest stewardship.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303520" cy="402336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Direct. Plain. Warm. Calm. Honest.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3749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have an answer Friday."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boiler is 22 years old. Replace it this winter."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"Rent went up $75. Here is why."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5257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solutions, passionate, dedicated, trusted, boutique, concierge, white-glove, leverage, synergy, bespoke, curated, unlock, empower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 and type.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88720" cy="1188720"/>
          </a:xfrm>
          <a:prstGeom prst="rect">
            <a:avLst/>
          </a:prstGeom>
          <a:solidFill>
            <a:srgbClr val="0F3A26"/>
          </a:solidFill>
          <a:ln w="12700">
            <a:solidFill>
              <a:srgbClr val="0F3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green-900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#0F3A26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560320"/>
            <a:ext cx="1188720" cy="118872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green-700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#1F5A3D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560320"/>
            <a:ext cx="1188720" cy="1188720"/>
          </a:xfrm>
          <a:prstGeom prst="rect">
            <a:avLst/>
          </a:prstGeom>
          <a:solidFill>
            <a:srgbClr val="3E8B62"/>
          </a:solidFill>
          <a:ln w="12700">
            <a:solidFill>
              <a:srgbClr val="3E8B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green-500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#3E8B62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2560320"/>
            <a:ext cx="1188720" cy="1188720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green-300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#9BC9AE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2560320"/>
            <a:ext cx="1188720" cy="1188720"/>
          </a:xfrm>
          <a:prstGeom prst="rect">
            <a:avLst/>
          </a:prstGeom>
          <a:solidFill>
            <a:srgbClr val="F7F4EE"/>
          </a:solidFill>
          <a:ln w="6350">
            <a:solidFill>
              <a:srgbClr val="B5B5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#F7F4EE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2560320"/>
            <a:ext cx="1188720" cy="1188720"/>
          </a:xfrm>
          <a:prstGeom prst="rect">
            <a:avLst/>
          </a:prstGeom>
          <a:solidFill>
            <a:srgbClr val="B5532C"/>
          </a:solidFill>
          <a:ln w="12700">
            <a:solidFill>
              <a:srgbClr val="B553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rust-500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#B5532C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7804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0749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246888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Fraunces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6888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headlines, wordmark. Georgia fallback.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50749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832104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UI, tabular figures. Calibri fallback.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Tagline candidates, ranked.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2240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property. Our problem.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pick. Sets accountability tone.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64240" cy="9144"/>
          </a:xfrm>
          <a:prstGeom prst="rect">
            <a:avLst/>
          </a:prstGeom>
          <a:solidFill>
            <a:srgbClr val="B5B5B5"/>
          </a:solidFill>
          <a:ln w="12700">
            <a:solidFill>
              <a:srgbClr val="B5B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Homes managed like they're ours.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Owner-leaning. Warmer.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30752"/>
            <a:ext cx="11064240" cy="9144"/>
          </a:xfrm>
          <a:prstGeom prst="rect">
            <a:avLst/>
          </a:prstGeom>
          <a:solidFill>
            <a:srgbClr val="B5B5B5"/>
          </a:solidFill>
          <a:ln w="12700">
            <a:solidFill>
              <a:srgbClr val="B5B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management that answers.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552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shot at the maintenance black hole.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07992"/>
            <a:ext cx="11064240" cy="9144"/>
          </a:xfrm>
          <a:prstGeom prst="rect">
            <a:avLst/>
          </a:prstGeom>
          <a:solidFill>
            <a:srgbClr val="B5B5B5"/>
          </a:solidFill>
          <a:ln w="12700">
            <a:solidFill>
              <a:srgbClr val="B5B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4572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portfolio. Personal service.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5528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against rollups.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85232"/>
            <a:ext cx="11064240" cy="9144"/>
          </a:xfrm>
          <a:prstGeom prst="rect">
            <a:avLst/>
          </a:prstGeom>
          <a:solidFill>
            <a:srgbClr val="B5B5B5"/>
          </a:solidFill>
          <a:ln w="12700">
            <a:solidFill>
              <a:srgbClr val="B5B5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035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5349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King and Snohomish, done right.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55280" y="5394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anchor.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9BC9AE"/>
          </a:solidFill>
          <a:ln w="12700">
            <a:solidFill>
              <a:srgbClr val="9BC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 ·  Confidential draft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7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property.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9BC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problem.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B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  ·  Kevin Lappe  ·  Green Lappe Properties  ·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Green Lappe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Lappe Properties — Partner Alignment v2</dc:title>
  <dc:subject>PptxGenJS Presentation</dc:subject>
  <dc:creator>Kevin Lappe</dc:creator>
  <cp:lastModifiedBy>Kevin Lappe</cp:lastModifiedBy>
  <cp:revision>1</cp:revision>
  <dcterms:created xsi:type="dcterms:W3CDTF">2026-05-19T22:44:48Z</dcterms:created>
  <dcterms:modified xsi:type="dcterms:W3CDTF">2026-05-19T22:44:48Z</dcterms:modified>
</cp:coreProperties>
</file>