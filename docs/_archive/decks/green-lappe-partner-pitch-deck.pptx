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ab8218d7314a74" /><Relationship Type="http://schemas.openxmlformats.org/officeDocument/2006/relationships/extended-properties" Target="/docProps/app.xml" Id="R8d5cb8ca8be944aa" /><Relationship Type="http://schemas.openxmlformats.org/officeDocument/2006/relationships/officeDocument" Target="/ppt/presentation.xml" Id="R4befaa3da4e745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d745d04aab4c2a"/>
  </p:sldMasterIdLst>
  <p:notesMasterIdLst>
    <p:notesMasterId xmlns:r="http://schemas.openxmlformats.org/officeDocument/2006/relationships" r:id="R034358a0f4744c7c"/>
  </p:notesMasterIdLst>
  <p:sldIdLst>
    <p:sldId xmlns:r="http://schemas.openxmlformats.org/officeDocument/2006/relationships" id="256" r:id="R654e5f2f4f9f4835"/>
    <p:sldId xmlns:r="http://schemas.openxmlformats.org/officeDocument/2006/relationships" id="257" r:id="R2be7679b3d714678"/>
    <p:sldId xmlns:r="http://schemas.openxmlformats.org/officeDocument/2006/relationships" id="258" r:id="R9d210c00aaee4075"/>
    <p:sldId xmlns:r="http://schemas.openxmlformats.org/officeDocument/2006/relationships" id="259" r:id="Re99cbccaf13c4a03"/>
    <p:sldId xmlns:r="http://schemas.openxmlformats.org/officeDocument/2006/relationships" id="260" r:id="R1787e2e96452411e"/>
    <p:sldId xmlns:r="http://schemas.openxmlformats.org/officeDocument/2006/relationships" id="261" r:id="R90083eb546034bc7"/>
    <p:sldId xmlns:r="http://schemas.openxmlformats.org/officeDocument/2006/relationships" id="262" r:id="Rd03c15ca56284864"/>
    <p:sldId xmlns:r="http://schemas.openxmlformats.org/officeDocument/2006/relationships" id="263" r:id="Rd8efa64c9d93464e"/>
    <p:sldId xmlns:r="http://schemas.openxmlformats.org/officeDocument/2006/relationships" id="264" r:id="R57d7192d258849e0"/>
    <p:sldId xmlns:r="http://schemas.openxmlformats.org/officeDocument/2006/relationships" id="265" r:id="R0db1a32413a04a6c"/>
    <p:sldId xmlns:r="http://schemas.openxmlformats.org/officeDocument/2006/relationships" id="266" r:id="Rb11c4efdfdac4281"/>
    <p:sldId xmlns:r="http://schemas.openxmlformats.org/officeDocument/2006/relationships" id="267" r:id="R9ca694f3fef748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745d04aab4c2a" /><Relationship Type="http://schemas.openxmlformats.org/officeDocument/2006/relationships/theme" Target="/ppt/theme/theme1.xml" Id="R3b85d2614b304473" /><Relationship Type="http://schemas.openxmlformats.org/officeDocument/2006/relationships/notesMaster" Target="/ppt/notesMasters/notesMaster1.xml" Id="R034358a0f4744c7c" /><Relationship Type="http://schemas.openxmlformats.org/officeDocument/2006/relationships/presProps" Target="/ppt/presProps.xml" Id="R4cbb779ddca84622" /><Relationship Type="http://schemas.openxmlformats.org/officeDocument/2006/relationships/viewProps" Target="/ppt/viewProps.xml" Id="R5d000a23c8654a58" /><Relationship Type="http://schemas.openxmlformats.org/officeDocument/2006/relationships/tableStyles" Target="/ppt/tableStyles.xml" Id="R6096606c216c45ee" /><Relationship Type="http://schemas.openxmlformats.org/officeDocument/2006/relationships/slide" Target="/ppt/slides/slide1.xml" Id="R654e5f2f4f9f4835" /><Relationship Type="http://schemas.openxmlformats.org/officeDocument/2006/relationships/slide" Target="/ppt/slides/slide2.xml" Id="R2be7679b3d714678" /><Relationship Type="http://schemas.openxmlformats.org/officeDocument/2006/relationships/slide" Target="/ppt/slides/slide3.xml" Id="R9d210c00aaee4075" /><Relationship Type="http://schemas.openxmlformats.org/officeDocument/2006/relationships/slide" Target="/ppt/slides/slide4.xml" Id="Re99cbccaf13c4a03" /><Relationship Type="http://schemas.openxmlformats.org/officeDocument/2006/relationships/slide" Target="/ppt/slides/slide5.xml" Id="R1787e2e96452411e" /><Relationship Type="http://schemas.openxmlformats.org/officeDocument/2006/relationships/slide" Target="/ppt/slides/slide6.xml" Id="R90083eb546034bc7" /><Relationship Type="http://schemas.openxmlformats.org/officeDocument/2006/relationships/slide" Target="/ppt/slides/slide7.xml" Id="Rd03c15ca56284864" /><Relationship Type="http://schemas.openxmlformats.org/officeDocument/2006/relationships/slide" Target="/ppt/slides/slide8.xml" Id="Rd8efa64c9d93464e" /><Relationship Type="http://schemas.openxmlformats.org/officeDocument/2006/relationships/slide" Target="/ppt/slides/slide9.xml" Id="R57d7192d258849e0" /><Relationship Type="http://schemas.openxmlformats.org/officeDocument/2006/relationships/slide" Target="/ppt/slides/slide10.xml" Id="R0db1a32413a04a6c" /><Relationship Type="http://schemas.openxmlformats.org/officeDocument/2006/relationships/slide" Target="/ppt/slides/slide11.xml" Id="Rb11c4efdfdac4281" /><Relationship Type="http://schemas.openxmlformats.org/officeDocument/2006/relationships/slide" Target="/ppt/slides/slide12.xml" Id="R9ca694f3fef748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9d83c2cce4640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669b91f1d0477d" /><Relationship Type="http://schemas.openxmlformats.org/officeDocument/2006/relationships/notesMaster" Target="/ppt/notesMasters/notesMaster1.xml" Id="R7db825b398d440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d4da6109944003" /><Relationship Type="http://schemas.openxmlformats.org/officeDocument/2006/relationships/notesMaster" Target="/ppt/notesMasters/notesMaster1.xml" Id="Rc6576e494ec345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9fbfd773464f33" /><Relationship Type="http://schemas.openxmlformats.org/officeDocument/2006/relationships/notesMaster" Target="/ppt/notesMasters/notesMaster1.xml" Id="R9e8d0a86522841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6e759b46ed48ad" /><Relationship Type="http://schemas.openxmlformats.org/officeDocument/2006/relationships/notesMaster" Target="/ppt/notesMasters/notesMaster1.xml" Id="Red9266677d254d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230daefddb4138" /><Relationship Type="http://schemas.openxmlformats.org/officeDocument/2006/relationships/notesMaster" Target="/ppt/notesMasters/notesMaster1.xml" Id="Rec39f722a54448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29be59a5bc405f" /><Relationship Type="http://schemas.openxmlformats.org/officeDocument/2006/relationships/notesMaster" Target="/ppt/notesMasters/notesMaster1.xml" Id="R20689841c3614c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55d295d2954f55" /><Relationship Type="http://schemas.openxmlformats.org/officeDocument/2006/relationships/notesMaster" Target="/ppt/notesMasters/notesMaster1.xml" Id="Rdc337475a0d04f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d1364ee5fd4238" /><Relationship Type="http://schemas.openxmlformats.org/officeDocument/2006/relationships/notesMaster" Target="/ppt/notesMasters/notesMaster1.xml" Id="R67c92e573e4143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28fb410bc14520" /><Relationship Type="http://schemas.openxmlformats.org/officeDocument/2006/relationships/notesMaster" Target="/ppt/notesMasters/notesMaster1.xml" Id="R3e7285093d7242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14e5db0efc4c6e" /><Relationship Type="http://schemas.openxmlformats.org/officeDocument/2006/relationships/notesMaster" Target="/ppt/notesMasters/notesMaster1.xml" Id="R4a2a9b26a71a42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1689af49f74709" /><Relationship Type="http://schemas.openxmlformats.org/officeDocument/2006/relationships/notesMaster" Target="/ppt/notesMasters/notesMaster1.xml" Id="R674e46f6d3fc47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da53521c8747b9" /><Relationship Type="http://schemas.openxmlformats.org/officeDocument/2006/relationships/notesMaster" Target="/ppt/notesMasters/notesMaster1.xml" Id="R0899a4d497b547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905b84eff428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9853800e53e46df" /><Relationship Type="http://schemas.openxmlformats.org/officeDocument/2006/relationships/slideLayout" Target="/ppt/slideLayouts/slideLayout2.xml" Id="R400d521873b04f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0d521873b04f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576f2c42d49d1" /><Relationship Type="http://schemas.openxmlformats.org/officeDocument/2006/relationships/notesSlide" Target="/ppt/notesSlides/notesSlide1.xml" Id="Rf871d89927874f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eef7489e444e94" /><Relationship Type="http://schemas.openxmlformats.org/officeDocument/2006/relationships/notesSlide" Target="/ppt/notesSlides/notesSlide2.xml" Id="R140b400e65d5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6653844c614fa2" /><Relationship Type="http://schemas.openxmlformats.org/officeDocument/2006/relationships/notesSlide" Target="/ppt/notesSlides/notesSlide3.xml" Id="Ra5fb583830c946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655981151c424c" /><Relationship Type="http://schemas.openxmlformats.org/officeDocument/2006/relationships/notesSlide" Target="/ppt/notesSlides/notesSlide4.xml" Id="R2d80859ba2564c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ffa55a19784843" /><Relationship Type="http://schemas.openxmlformats.org/officeDocument/2006/relationships/notesSlide" Target="/ppt/notesSlides/notesSlide5.xml" Id="Rfbe63eb2d6fc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d94c06cf044e71" /><Relationship Type="http://schemas.openxmlformats.org/officeDocument/2006/relationships/notesSlide" Target="/ppt/notesSlides/notesSlide6.xml" Id="R805ff6afaa5843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7e4b68cdb44dc" /><Relationship Type="http://schemas.openxmlformats.org/officeDocument/2006/relationships/notesSlide" Target="/ppt/notesSlides/notesSlide7.xml" Id="R673ea191bfdc48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d24d4130894e1c" /><Relationship Type="http://schemas.openxmlformats.org/officeDocument/2006/relationships/notesSlide" Target="/ppt/notesSlides/notesSlide8.xml" Id="Rcd80edf16cf442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e336a316894f75" /><Relationship Type="http://schemas.openxmlformats.org/officeDocument/2006/relationships/notesSlide" Target="/ppt/notesSlides/notesSlide9.xml" Id="R23d624bbc95642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721eed944b4cd8" /><Relationship Type="http://schemas.openxmlformats.org/officeDocument/2006/relationships/notesSlide" Target="/ppt/notesSlides/notesSlide10.xml" Id="R2428caa22d0743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a270dee4404b71" /><Relationship Type="http://schemas.openxmlformats.org/officeDocument/2006/relationships/notesSlide" Target="/ppt/notesSlides/notesSlide11.xml" Id="R1c0a7c19dfe54e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897cab71ec44c9" /><Relationship Type="http://schemas.openxmlformats.org/officeDocument/2006/relationships/notesSlide" Target="/ppt/notesSlides/notesSlide12.xml" Id="Rc03ba91038c343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FED023-D052-4ED4-92DA-69672C73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94F29-480C-4D31-80A1-0929FAEE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2C76D-7459-4295-956E-E8E17DA8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A6E5D-372D-4E65-8C48-662BC6B6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FAE82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8FAE82"/>
                </a:solidFill>
                <a:latin typeface="Avenir Next"/>
                <a:ea typeface="Avenir Next"/>
                <a:cs typeface="Avenir Next"/>
              </a:rPr>
              <a:t>GREEN LAPPE PROPERTIES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0675F-335F-4076-B412-1DC82638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Partner opportunity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64C51-F029-4353-AEB1-7C8F430D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81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A 90-day proof sprint for a property company that answers.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A28B8-7DB5-4EC5-996C-5125196D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EEE9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E9EEE9"/>
                </a:solidFill>
                <a:latin typeface="Georgia"/>
                <a:ea typeface="Georgia"/>
                <a:cs typeface="Georgia"/>
              </a:rPr>
              <a:t>Built for a Megan partner conversation from the local project corpus. The point is not to restart the research. It is to decide what to prove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882EA-D2B8-4325-8AED-7987DE59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CE44A-AEBA-4C5F-94FB-18E668D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799A2-EA3E-4D6F-BB24-C869F89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$763.6M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20000-AFE9-4F59-9481-11005C61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Full-stock TAM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CCA74-6EDB-4853-93C8-7AFC931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10% fee tier, two-county small-owner pool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3C142-A8AF-4960-BF71-EF0AD342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2E6F1-C6CA-4A17-80E8-AF88D8F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00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$219M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12221-3F67-4549-9A96-CDE4481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53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Practical PM 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CBB96-D1B7-4977-A616-BB91DE81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34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King + Snohomish reconciled PM 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652EA-4043-4BB5-A0FC-E4A262DC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5314A-90AE-4856-B898-DDA807C4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00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2-5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30629-2E6C-4391-813E-34ACEA55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53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Proof homes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7DAA4-EEE2-405B-959A-B8F0212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34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Year-one launch cohort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2B60B-B73A-46F6-8F85-D585AFC9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1970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90581-76D7-4FD5-80B1-A0CA647C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00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70F32-6751-4281-8465-2FABB6CC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53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B56E2-430C-4540-9BDC-420F785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34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E9EEE9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E9EEE9"/>
                </a:solidFill>
                <a:latin typeface="Avenir Next"/>
                <a:ea typeface="Avenir Next"/>
                <a:cs typeface="Avenir Next"/>
              </a:rPr>
              <a:t>Proof sprint before broad launch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91C7A-243F-4290-9A4F-11E22331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36BE5-C379-4376-B36F-59DFCDE6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Sources: TAM memo, PM market memo, Launch Prioritization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0DC76-0F48-4398-8BF3-DF458F4C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91921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C0CF1B-7513-4EBD-931E-6CBF6D20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FF1A3-EDFB-4469-B592-0440A5C4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26EE5-4D43-451E-94AA-DBB7757F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DATASTORY TENSION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B23EF-A1C5-4C64-AC09-9A51578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pain is clear. The opportunity is to operationalize the opposite.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2B9FE-1A61-4178-A0F4-BDC68589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4E3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74E3B"/>
                </a:solidFill>
                <a:latin typeface="Georgia"/>
                <a:ea typeface="Georgia"/>
                <a:cs typeface="Georgia"/>
              </a:rPr>
              <a:t>What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4E320-E2F5-40B2-9726-478B39AC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D50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F5D50"/>
                </a:solidFill>
                <a:latin typeface="Georgia"/>
                <a:ea typeface="Georgia"/>
                <a:cs typeface="Georgia"/>
              </a:rPr>
              <a:t>What could 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089A4-C28A-41CF-B128-0A9EBEE1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E5139-6DF0-4882-8797-B5631863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01C78-D3F1-4E8E-AE69-B6264E77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7652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Communication black holes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EE421-4D76-4C4C-A6BB-D16619D4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7652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Named accountability and visible response standards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633C5-26E1-412B-9006-65B0C2CA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B02E7-22BE-4309-A312-1210B3DE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BCDFB-B535-457F-9C83-A499F79A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8DB24-3CEE-470B-9A85-B80870A0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Opaque statements and markups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8193D-49C8-423E-9D85-04AD0FA1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Pass-through invoices and owner packets that reconcile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DB016-D349-4D69-914C-6273D29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0F4E7-D29A-401D-9BB7-810C4627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B8A75-A753-4A38-B102-B797B4B1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624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09B8D-1270-47E0-93E4-001A74F6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8622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Regulatory landmines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87C73-F792-4777-AB81-C226A098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8622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Jurisdiction-aware compliance calendar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D6DB9-7730-4CA5-B973-62E54F2A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DE55E-D01E-4268-9D09-024B938F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F9287-A6C0-4087-9A95-A0E50AC3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B2062-C62D-4E31-82D0-F5D45B57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Overloaded PM staff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5F3C91-0B60-4107-91D9-44E93D6C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91075"/>
            <a:ext cx="3676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Workload caps plus systems before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FFEC5-16DB-4758-9F94-1360819D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958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6D15F-D122-4A7A-BC96-6958FA7C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E257AB-13B5-4B06-A4FB-CCE42B7F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Sources: Pain Points, User Journey 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7C5CD8-4983-4038-8EFA-B753FEB2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9943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5C77F-4384-44D6-A9CC-C52DA2E5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99667-D6E6-49F7-8A8A-346BD3F3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5DB1C-21FF-4FB9-AAEC-8631CCB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MARKET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40F8A-4AD8-443E-A8C8-21AE3480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Market size is not the constraint; focus 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B655C-7742-4810-9662-FE49E60A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Use the large TAM for confidence and the smaller PM base for launch realism.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9BE0D-CD4D-4378-AB9E-88ECA7F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Full-stock TAM at 10%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55840-0C2F-4379-87E3-27BE8754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C2403-3A53-49B0-B6B8-29B2FEB5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19505-83AC-455A-A6CF-D1A554DB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907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$763.6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AE783-2C5F-4F81-8231-F5850B62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Greenfield TAM at 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922D5-F465-4D5F-B577-3431BD9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33663-7284-41FB-8992-3A954C26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416046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66CC0-1CAF-407D-A85D-A6114FAB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241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$595.6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24834-379C-4CB8-B5BF-799BA0A9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Practical two-county PM 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220CA-4960-4107-A4E4-BB9297DB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290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D005B-CAEA-40FF-909A-003D8503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29000"/>
            <a:ext cx="15297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96B48-27CC-4F84-8489-D6AC4FA8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575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$219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3AE29-6DE6-4CFE-B883-C26AD68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Snohomish PM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8B2AC-EA0B-4DCF-B742-C086BDA1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624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134C9-9655-4D5B-9F21-EDCA89D6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62400"/>
            <a:ext cx="23750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6B0FA-DC67-48AE-AD2B-A03965B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909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$34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42772-55F0-40A9-9D65-B873CBE1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All values in annual revenue millions. The broad TAM is modeled from small-owner units x rent x fee tier; the PM base reflects current adoption and serviceable market logic.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7A5D4-2AD7-49B4-85B2-C48E6C15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47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6DACC-44EF-4699-9ABC-0913F450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47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6A81E-D9D3-4C2A-8F85-80161591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Partner 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A58F64-6934-48F7-87B6-77E92006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190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The pond is large enough. The first decision is not how to capture it. The first decision is which 2-5 homes prove the operating promise.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85D410-5D73-48D5-A8C8-35857DA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BC536-1D02-488A-ABE9-3144E621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Sources: Total Addressable Market (TAM), Non-Institutional PM Market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80EEE-22EE-49C7-83F5-93872BDA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54917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17EC7-3798-4C76-A8E2-0A4DAD93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C427E-3259-45AD-A098-206F9692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9AD9B-B0AE-4AF3-B3FD-2DCB94F9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ENTRY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97A2C-E7F1-4D30-B786-AA5F9F38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Fragmentation creates room for a focused entrant.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29925-DB26-4035-89B8-956C5A3D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9554E-8DF8-4E93-B4D5-D68E3EAC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5A3A0-C46B-43C3-AB72-D68EDEEC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No dominant incumbent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87143-BC73-4E07-802B-0CE17B08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9907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No single in-scope King operator exceeds 7% of SAM.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9FF16-409D-4C56-A930-26B2771D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F6799-6C04-4403-87B9-35C69B1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FB9F6-4CC1-4579-87B7-7773D142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Top five: 11%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75F22-779B-467C-8E5F-0121A14C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9907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The largest five operators together hold roughly 11% of SAM.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404F-E095-4A8C-A608-FD8B4393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24CC8-8C2E-4D51-B0FE-D8F60328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8972D-CAB3-4806-8171-CD182DA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Many small 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5AAF1-9A8A-41DE-A618-6B96980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19907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The remainder is spread across independents, franchises, and tech entrants.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2C92B-AB4D-4B6B-B0B6-C95DD7C1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22D06-3D50-469C-816E-649D577D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B0D31-F64F-4770-9236-71906C25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Exit optionality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6B5BE-950D-428E-8C40-80CBA1F8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19907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A high-quality 50-300 door book can have acquisition value.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7FB29-F5D9-46C7-90B1-C48CC95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story is not that Green Lappe can outspend incumbents. It is that a small, trusted operator can win a narrow cohort with better standards.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071F1-4E25-4ED7-9AEF-769C866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DFE91-BA4B-49A7-9C17-03B2DE46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Source: Non-Institutional Small Landlord PM Market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93444-21AE-4CC3-B6FD-6922A24F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00053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FBB6E-2A5B-441E-861B-4055564C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93779-CDDB-49C3-A872-2CE5B7E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B6CFB-6278-48AD-BD38-2CC1C44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LAUNCH SEQUENCING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407D9-4BC8-4166-9FB0-91115D89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Start where trust converts fastest.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C281A-0966-4A6A-B9CA-63D0920A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95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The ZCTA model points to King/Eastside/Seattle PM density. The launch memo points to Snohomish SFRs because proof needs trust, control, and lower operating complexity.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6AE38-E3F4-4708-B68C-4246B282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57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A63A6-3BFF-4B8D-9A12-3FC8AA79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57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5F81B-8BF2-4563-A2B3-4AB1F2DF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Data-density expansion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7E033-3992-4ABB-AFF5-BB94C625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6A7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26A7A"/>
                </a:solidFill>
                <a:latin typeface="Avenir Next"/>
                <a:ea typeface="Avenir Next"/>
                <a:cs typeface="Avenir Next"/>
              </a:rPr>
              <a:t>Redmond, SLU, Belltown, Bellevue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CECF1-86B1-48DF-B934-71098178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Best for phase-two targeting once operations hold.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066A6-1D5F-4D0D-8AFE-221FD200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57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4CC53-BF42-40A6-A771-3CF94DA1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57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16BFE-10FB-44AC-982A-83A2593F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Execution-first launch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89323-EDF0-43AA-BC86-FA9C0BFA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D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F5D50"/>
                </a:solidFill>
                <a:latin typeface="Avenir Next"/>
                <a:ea typeface="Avenir Next"/>
                <a:cs typeface="Avenir Next"/>
              </a:rPr>
              <a:t>Snohomish and adjacent north King SFRs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61AB4-23AF-4F09-8438-52BCC105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Best for Megan's network, vendor familiarity, and first-cohort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74021-6DE8-4536-96AB-4CFC020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0A614-96C5-41B6-A955-5D6DD783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Sources: Effort-6 final report, Launch Prioritization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4690E-D075-4AC4-8B2E-97218256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30427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AB725-2E3B-43B1-A884-77AFF100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5E302-FE5A-41F9-AB0E-2D4555CB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3E132-0CFA-400D-A8AC-7E8C9A0F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PARTNER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339B8-FAF6-42F9-A31A-CE10EEC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asset is the pairing: local trust plus systems leverage.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385A0-4E83-4A40-92FB-02E87D38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C49D4-E7C7-42F2-888A-45E19D43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3F9B4-2327-447B-B0A3-0BA1501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5D50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2F5D50"/>
                </a:solidFill>
                <a:latin typeface="Georgia"/>
                <a:ea typeface="Georgia"/>
                <a:cs typeface="Georgia"/>
              </a:rPr>
              <a:t>Megan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42E3E-941D-4B24-B4DA-CA1AF077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619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Local trust graph</a:t>
            </a:r>
          </a:p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Property judgment</a:t>
            </a:r>
          </a:p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Owner conversations</a:t>
            </a:r>
          </a:p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Vendor and contractor network</a:t>
            </a:r>
          </a:p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First cohort conversion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394B4-A293-46B2-AD19-A89C2183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6A7A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226A7A"/>
                </a:solidFill>
                <a:latin typeface="Georgia"/>
                <a:ea typeface="Georgia"/>
                <a:cs typeface="Georgia"/>
              </a:rPr>
              <a:t>Kevin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7329A-426B-44FE-8F6B-F4F38DFF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Compliance systems</a:t>
            </a:r>
          </a:p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Owner reporting</a:t>
            </a:r>
          </a:p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Vendor workflow</a:t>
            </a:r>
          </a:p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Evaluation discipline</a:t>
            </a:r>
          </a:p>
          <a:p xmlns:a="http://schemas.openxmlformats.org/drawingml/2006/main">
            <a:pPr algn="l">
              <a:def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Automation with human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154A7-910E-4723-B20F-D938D544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054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Division of labor is the strategy. The first sprint should prove whether systems actually protect Megan's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419E9-A22A-4010-9242-6825214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4FB32-8B0E-474B-9761-CA9BEF2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Source: Pitch Deck Prep v.1, Kevin resume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A9DA7-D662-4A1D-9E7C-0FE1693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6997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00A1F-D051-4D16-AC89-4DD61021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9B267-4D3C-4889-BA82-412C531A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6DB71-DBA9-4D74-90FC-F618EF05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FIRST 50 DOORS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700F8-0414-4BD7-9DDF-C135BF50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first growth path is a warm relationship funnel.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3C51A-B647-45EB-BF56-7EE295B5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DBEB4-9967-4545-8720-A6CA481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6868B-B419-433D-9A45-C86820BE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Career relationships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CDAE5-C781-4F03-A7C2-B71CAE55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28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C14C8-9E15-4183-943A-46C2E250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D4355-0C11-4E8C-9316-2A50FDB0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8F7E8-5090-41D0-92C2-DB19C47F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Discovery calls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A9598-44F3-45A5-8E43-94ABB7D0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B2152-1B99-42BE-8582-F65F3075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FF92E-4121-42DA-86C0-09B89B4C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432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5-8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600B7-143F-4655-81BD-42ADF668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High-intent prospects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3494B-9498-4593-B602-1E7EE147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E4D50-4949-4BF6-8EE2-DBC5E721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D4505-95AB-4221-8925-9B4E3B76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432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2-5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DD21F-87BD-47A6-95E0-FB41D07C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86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Launch homes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E6690-E966-4567-9F8A-7CE3F29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375AE-95BB-4CA7-808D-025B725F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98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E7766-2847-4891-9079-CEEF68C5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432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6-12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8E454-DF40-454F-B707-D886878C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86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Phase-two homes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911A9-0775-4C4B-B450-7362A29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108 is source evidence. The rest is the proof-sprint model to validate, not a guarantee.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E8809-8B0D-403D-80AA-F0C63DF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38E70-247B-4164-B6BD-391AF3D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Sources: Pitch Deck Prep v.1, Launch Prioritization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3F8F0-D1D5-4FCC-B05B-CB255CDE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28610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AEDD2-E6DA-4D23-8043-ED37C2AD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E9BE5-38CD-47F5-A280-93AED60E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E09C1-576E-4E6E-B8DC-ACD941B0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OPERATING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110B5-738D-4BEF-943A-32651D65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service promise needs systems before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B1FF7-66E5-4B02-8202-A88B83A5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19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FE1BA-DDE8-472B-8827-CCAF9064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72326-ACF6-4083-8860-C690E01F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Compliance calendar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7EA8B-EF95-48CA-94AB-73FF6A5D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Right notice, right date, right jurisdiction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99A7E-A2CB-4F7D-B471-A2E152A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2019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17E8D-D3F7-451A-B7B2-FCABDDB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13139-81F0-49E4-BCF7-AA01F334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Owner packet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F77A2-5E3E-4EE7-9766-E95F33E4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Income, expenses, capex log, rent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AD820-3E56-4287-AF5B-6980BE8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2019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9831A-AA80-4EE0-A71D-AA6741AB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C7647-284B-4457-856F-1BEDBF9F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Maintenance SLA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19CD5-C68C-4A87-8C60-95F885A7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Photo intake, vendor dispatch, visible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C4BC3-4BEC-4CF3-AEAF-BD9F3985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2019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486EE-80DD-4B77-8FEF-C21C2B2E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82F51-DCBB-44EE-A355-A8C532E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Inspection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C3217-2AEC-459D-AD24-52AAAE19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6225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Move-in/out proof and deposit defense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E1CA2-E83A-49C4-A330-39B2B7DB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1960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41654-59AC-4A3B-AEAD-65FABFA4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Kevin's first proof artifact should be owner-visible: a monthly packet, compliance calendar, or maintenance SLA workflow.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F2050-74E3-4FBA-85FC-0EE516BB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9AF6B-62CB-4854-84E9-2D1D7EAB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Sources: Pitch Deck Prep, User Journey Map, GTM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23D4B-DF3B-4140-9D3D-64DB0702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96021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A7F77-3D24-4E26-B3CC-F27C13C3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93C1A-F69B-4625-94F2-A32F63F8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51C1F-85B7-4F90-B196-ACA260FF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BOUTIQUE 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E20E3-C524-4A94-9FFF-9DE47C3A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A capped firm can still be economically meaningful.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9D9F1-3B81-4B0D-9065-15297D7B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65759"/>
            <a:ext cx="1066800" cy="501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7BD83-D0D1-4177-BEFF-7F81457C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2859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$195K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59EFB-385E-4D99-A37F-04373C14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50 doors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03296-E615-4C79-960E-ED39604A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62776"/>
            <a:ext cx="1066800" cy="1504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4C627-D6CE-4032-88C2-E356F63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19876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$585K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EA9A7-90CD-4870-B863-531C8C10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196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150 doors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7E08B-14A3-4CE1-92AC-88232258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61285"/>
            <a:ext cx="1066800" cy="2005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BE01E-D7F9-4B26-96F1-0C97CD9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1838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$780K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A7696-6209-455C-A14A-C23AE4F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196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200 doors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0B298-4A8F-45F2-86E7-8E4FEEA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9794"/>
            <a:ext cx="1066800" cy="2507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55148-055B-4830-8837-67E79F85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16894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$975K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EA058-CB5E-4660-9ED1-768C1593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250 doors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CE35A-4785-425E-A0E6-BBD58B80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E3720-39A4-403F-8DB4-817866BF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67350"/>
            <a:ext cx="752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Modeled at roughly $3,900 revenue per door per year. Capacity is still the assumption to prove.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6BC6E-2DD6-4C8C-8503-D7701BED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DEB7B-7CC7-4687-9AEE-CD32C48B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Source: Pitch Deck Prep v.1; PM market fee assumptions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3D513-3F00-4B06-AB8B-3BCD319D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02578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CAB183-468F-4E44-A5C0-FA1C3511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3E3C9-6A38-43C6-B8FE-04E165D4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AB3A0-1A67-43F5-8817-D93BD2A5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FCC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3ABFE-C705-4FA7-9D04-BD06BCE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FCC is the margin wedge, not the launch product.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C5008-2F82-438A-8D65-E5CCEBC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817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D282F-D75F-4BD6-ACED-8D469B28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1D293-16B3-4ECC-9EF8-0872D56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Core PM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08F9D-F4DE-4DCE-9AB2-E6FE8F98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038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2-5 SFRs, response standards, fee clarity, owner packets.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5A630-EAF5-4EB6-BCD3-1846933A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0D8E6-B27D-4DFA-9D42-F5679BF9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Repeatability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B48A5-BA2A-4544-B3C5-BF143CE7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48150"/>
            <a:ext cx="2038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6-12 homes, onboarding under 30 days, no SLA degradation.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5A81D-3F0C-4187-ABC4-FDB9D9ED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8DDF4-3ED3-4F6C-8540-9C099CD5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81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First FCC 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AD5F1-7523-4B00-BBDA-27756505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2038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Qualified property plus qualified provider under Structure 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C29BC-5632-4217-94F6-8A4D90B2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67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91C9F-77DA-4ACE-A457-BE0D29C0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81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Playbook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89992-5725-40D9-808C-37E28B01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2038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Insurance, mortgage, zoning, provider pipeline, repeatable addenda.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9F7BC-565B-45EB-9613-6640CBB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FCC memo scores the wedge strong on Delight, Hard to Copy, and Margin. The sequencing protects the launch.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810C1-4421-42B1-AB1B-FCC8A32B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791B3-9F3D-4DEC-8292-B75D1EFF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Sources: FCC Strategy, Launch Prioritization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7D5EF-6FD6-4B14-A7B7-0D47E98A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1414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A56292-AAAE-4385-90A0-FDC3D3DF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0EC7A-F146-454C-ACF4-27375851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3B7E2-60EF-4CF2-BC61-11605B3F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ASSUMPTIONS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7374B-3D20-4191-AB00-9FCCB982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credible version names what still has to be proven.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5D659-DC9B-49F1-BBA0-6EBDA3FB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rPr>
              <a:t>Licensing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799B5-4C49-4713-BC51-C659D509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2B5EE-9335-41B7-97E2-F47F4FF6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027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Designated broker path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DF03A-6830-478D-898E-C715DBEE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rPr>
              <a:t>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09F8E-BB6A-4C6D-95A6-D9A60E8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69C6E-8E89-4F31-9FC9-20105437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9082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20 owner calls produce first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66175-EADD-4164-9314-6692E8AC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rPr>
              <a:t>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59525-43A8-4F50-A526-BE922A74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85853-823E-47D4-A9C2-892B96DD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8137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Owners accept transparent premium or flat fee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8C58A-AEC2-4E14-9606-BB04B0AA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rPr>
              <a:t>Capacity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09D1E-7B6A-45A7-B8FC-2638EF3F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67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7273B-FA75-49DF-95B8-CF543510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7192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Door workload model holds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A2ECF-4A73-462C-827E-750ACF6A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74E3B"/>
                </a:solidFill>
                <a:latin typeface="Avenir Next"/>
                <a:ea typeface="Avenir Next"/>
                <a:cs typeface="Avenir Next"/>
              </a:rPr>
              <a:t>Conflict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8E64A-513A-473C-8A8A-69A1A3B2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FF213-8CD9-425C-A74D-86DFC1FD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62475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73A2B"/>
                </a:solidFill>
                <a:latin typeface="Avenir Next"/>
                <a:ea typeface="Avenir Next"/>
                <a:cs typeface="Avenir Next"/>
              </a:rPr>
              <a:t>Roles and employment constraints clear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22D2F-4FB1-4216-B3B6-DCF92947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EED63-FD83-4B99-A732-0A7A31BA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Sources: Pitch Deck Prep, GTM Plan, Market Deep Dive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9E36C-00C4-4241-8967-2162B752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92283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3F1AE-E846-432E-992F-E0ACA1E5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84044-6670-4B95-B6F9-508667C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999DF-DB42-465E-920F-24837563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AFAF6"/>
                </a:solidFill>
                <a:latin typeface="Avenir Next"/>
                <a:ea typeface="Avenir Next"/>
                <a:cs typeface="Avenir Next"/>
              </a:rPr>
              <a:t>ACTION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F7B34-A8E8-4C31-9355-B0C3D335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The next move is a 90-day proof sprint.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EBCE5-C3DE-47B1-B5BC-62D152B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621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E76B6-FF63-478A-BB9E-14B8CF56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87FCC-920A-46E8-B21F-4FA6A5A0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30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50072-C89A-467A-A7B7-903BB9BF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Confirm licensing, role constraints, entity path, and first-contact list.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4C937-FB35-49CE-8A93-25A7E132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05107-1565-4FB5-934F-B2EE8340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60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F07D0-B69C-46EA-AEA9-18A3212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2425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Complete 20 owner calls, choose pricing posture, prototype first system.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52A26-A97B-4A74-A833-CBAEFF1D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E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BAF57-D628-40D1-A375-61D70A4E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73A2B"/>
                </a:solidFill>
                <a:latin typeface="Georgia"/>
                <a:ea typeface="Georgia"/>
                <a:cs typeface="Georgia"/>
              </a:rPr>
              <a:t>90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50039-1F8E-448B-9FDD-ADC9358A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Select first homes, vendor bench, SLA scorecard, and go/no-go criteria.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157F2-2529-4C89-8D25-D97B7BA8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81600"/>
            <a:ext cx="845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95AE0-19D7-4D34-B2C3-DB1CB6C5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AFAF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AFAF6"/>
                </a:solidFill>
                <a:latin typeface="Georgia"/>
                <a:ea typeface="Georgia"/>
                <a:cs typeface="Georgia"/>
              </a:rPr>
              <a:t>Decision: commit to the proof sprint before broad launch.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58781-16A6-4C32-8D94-FCC4B7F5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5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EB373-55FC-4996-A898-6A955A30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Source: Opportunity materials synthesized from local corpus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70394-71E1-4672-8BFD-9E7CC00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26302B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8636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2026-05-19T22:43:38.9580000Z</dcterms:created>
  <dcterms:modified xsi:type="dcterms:W3CDTF">2026-05-19T22:43:38.9580000Z</dcterms:modified>
</coreProperties>
</file>