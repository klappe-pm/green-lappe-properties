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D2B"/>
                </a:solidFill>
                <a:latin typeface="Georgia"/>
              </a:defRPr>
            </a:pPr>
            <a:r>
              <a:rPr sz="1400" b="0" i="0" u="none" strike="noStrike">
                <a:solidFill>
                  <a:srgbClr val="1F3D2B"/>
                </a:solidFill>
                <a:latin typeface="Georgia"/>
              </a:rPr>
              <a:t>Monthly revenue per sq ft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 per sq ft ($)</c:v>
                </c:pt>
              </c:strCache>
            </c:strRef>
          </c:tx>
          <c:spPr>
            <a:solidFill>
              <a:srgbClr val="4A7C3A"/>
            </a:solidFill>
            <a:effectLst/>
          </c:spPr>
          <c:invertIfNegative val="0"/>
          <c:dLbls>
            <c:numFmt formatCode="$0.0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7C3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BC53D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Standard residential rental</c:v>
                  </c:pt>
                  <c:pt idx="1">
                    <c:v>Licensed daycare conversion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1.5</c:v>
                </c:pt>
                <c:pt idx="1">
                  <c:v>4.5</c:v>
                </c:pt>
              </c:numCache>
            </c:numRef>
          </c:val>
        </c:ser>
        <c:dLbls>
          <c:numFmt formatCode="$0.00" sourceLinked="0"/>
          <c:txPr>
            <a:bodyPr/>
            <a:lstStyle/>
            <a:p>
              <a:pPr>
                <a:defRPr b="1" i="0" strike="noStrike" sz="14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  <c:min val="0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D2B"/>
                </a:solidFill>
                <a:latin typeface="Georgia"/>
              </a:defRPr>
            </a:pPr>
            <a:r>
              <a:rPr sz="1400" b="0" i="0" u="none" strike="noStrike">
                <a:solidFill>
                  <a:srgbClr val="1F3D2B"/>
                </a:solidFill>
                <a:latin typeface="Georgia"/>
              </a:rPr>
              <a:t>Annual unit economics (illustrative)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annual revenue</c:v>
                </c:pt>
              </c:strCache>
            </c:strRef>
          </c:tx>
          <c:spPr>
            <a:solidFill>
              <a:srgbClr val="4A7C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Rental</c:v>
                  </c:pt>
                  <c:pt idx="1">
                    <c:v>Daycare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36000</c:v>
                </c:pt>
                <c:pt idx="1">
                  <c:v>108000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Operating expenses</c:v>
                </c:pt>
              </c:strCache>
            </c:strRef>
          </c:tx>
          <c:spPr>
            <a:solidFill>
              <a:srgbClr val="C4453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Rental</c:v>
                  </c:pt>
                  <c:pt idx="1">
                    <c:v>Daycare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-14000</c:v>
                </c:pt>
                <c:pt idx="1">
                  <c:v>-42000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Net before debt</c:v>
                </c:pt>
              </c:strCache>
            </c:strRef>
          </c:tx>
          <c:spPr>
            <a:solidFill>
              <a:srgbClr val="9BC5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Rental</c:v>
                  </c:pt>
                  <c:pt idx="1">
                    <c:v>Daycare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22000</c:v>
                </c:pt>
                <c:pt idx="1">
                  <c:v>66000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1A1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8288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 LAPPE</a:t>
            </a:r>
            <a:endParaRPr lang="en-US" sz="6400" dirty="0"/>
          </a:p>
        </p:txBody>
      </p:sp>
      <p:sp>
        <p:nvSpPr>
          <p:cNvPr id="4" name="Text 1"/>
          <p:cNvSpPr/>
          <p:nvPr/>
        </p:nvSpPr>
        <p:spPr>
          <a:xfrm>
            <a:off x="640080" y="2697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spc="800" kern="0" dirty="0">
                <a:solidFill>
                  <a:srgbClr val="9BC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PROPERTIES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640080" y="36576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grass is greener on this side.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40080" y="4572000"/>
            <a:ext cx="1097280" cy="54864"/>
          </a:xfrm>
          <a:prstGeom prst="rect">
            <a:avLst/>
          </a:prstGeom>
          <a:solidFill>
            <a:srgbClr val="9BC53D"/>
          </a:solidFill>
          <a:ln w="12700">
            <a:solidFill>
              <a:srgbClr val="9BC5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4754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Alignment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5120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Megan Green  ·  Kevin Lappe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5486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 ·  May 2026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817352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Things are green.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7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pillars wrap a single brand promise: growth, abundance, savings, and momentum.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7432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2743200" cy="109728"/>
          </a:xfrm>
          <a:prstGeom prst="rect">
            <a:avLst/>
          </a:prstGeom>
          <a:solidFill>
            <a:srgbClr val="4A7C3A"/>
          </a:solidFill>
          <a:ln w="12700">
            <a:solidFill>
              <a:srgbClr val="4A7C3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945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8346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grass is greener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384048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and tenants choose us over the alternative.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10712" y="1828800"/>
            <a:ext cx="27432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10712" y="1828800"/>
            <a:ext cx="2743200" cy="109728"/>
          </a:xfrm>
          <a:prstGeom prst="rect">
            <a:avLst/>
          </a:prstGeom>
          <a:solidFill>
            <a:srgbClr val="4A7C3A"/>
          </a:solidFill>
          <a:ln w="12700">
            <a:solidFill>
              <a:srgbClr val="4A7C3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52" y="219456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85032" y="28346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Things are green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3685032" y="384048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properties, healthy operations, healthy partners.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72784" y="1828800"/>
            <a:ext cx="27432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72784" y="1828800"/>
            <a:ext cx="2743200" cy="109728"/>
          </a:xfrm>
          <a:prstGeom prst="rect">
            <a:avLst/>
          </a:prstGeom>
          <a:solidFill>
            <a:srgbClr val="4A7C3A"/>
          </a:solidFill>
          <a:ln w="12700">
            <a:solidFill>
              <a:srgbClr val="4A7C3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24" y="219456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47104" y="28346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save you green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6547104" y="384048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efficiency means higher net yield per door.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9134856" y="1828800"/>
            <a:ext cx="27432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134856" y="1828800"/>
            <a:ext cx="2743200" cy="109728"/>
          </a:xfrm>
          <a:prstGeom prst="rect">
            <a:avLst/>
          </a:prstGeom>
          <a:solidFill>
            <a:srgbClr val="4A7C3A"/>
          </a:solidFill>
          <a:ln w="12700">
            <a:solidFill>
              <a:srgbClr val="4A7C3A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4896" y="219456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409176" y="28346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 light to grow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9409176" y="384048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Daycare conversions unlock revenue standard rentals cannot.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·  Partner Alignment Draft  ·  May 2026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0817352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hiding inside every rental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7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residential rentals leave revenue per square foot on the table.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03520" cy="4572000"/>
          </a:xfrm>
          <a:prstGeom prst="rect">
            <a:avLst/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91440" cy="4572000"/>
          </a:xfrm>
          <a:prstGeom prst="rect">
            <a:avLst/>
          </a:prstGeom>
          <a:solidFill>
            <a:srgbClr val="C44536"/>
          </a:solidFill>
          <a:ln w="12700">
            <a:solidFill>
              <a:srgbClr val="C445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3317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Single-family rentals cap out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292608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 ceilings tied to bedrooms, not square footage.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Vacancy, turnover, and one-tenant concentration risk.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and management eat 30–40% of gross rent.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Appreciation is the strategy; cash flow is the consolation prize.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55080" y="1783080"/>
            <a:ext cx="5303520" cy="4572000"/>
          </a:xfrm>
          <a:prstGeom prst="rect">
            <a:avLst/>
          </a:prstGeom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1783080"/>
            <a:ext cx="91440" cy="4572000"/>
          </a:xfrm>
          <a:prstGeom prst="rect">
            <a:avLst/>
          </a:prstGeom>
          <a:solidFill>
            <a:srgbClr val="9BC53D"/>
          </a:solidFill>
          <a:ln w="12700">
            <a:solidFill>
              <a:srgbClr val="9BC5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9B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75120" y="23317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Licensed daycare conversions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675120" y="292608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Commercial-tier revenue from residential-zoned properties.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Childcare demand outstrips supply in nearly every CA metro.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operators sign multi-year, sticky leases.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square footage. Multiple revenue tiers depending on use.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·  Partner Alignment Draft  ·  May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817352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doors. Same pipeline.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7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property enters the funnel as a candidate for either path.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35758" cy="1280160"/>
          </a:xfrm>
          <a:prstGeom prst="rect">
            <a:avLst/>
          </a:prstGeom>
          <a:solidFill>
            <a:srgbClr val="4A7C3A"/>
          </a:solidFill>
          <a:ln w="12700">
            <a:solidFill>
              <a:srgbClr val="4A7C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65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21785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ACQUIRE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21785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properties matching the residential-rental profile.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 rot="5400000">
            <a:off x="3202686" y="2331720"/>
            <a:ext cx="137160" cy="274320"/>
          </a:xfrm>
          <a:prstGeom prst="rtTriangle">
            <a:avLst/>
          </a:prstGeom>
          <a:solidFill>
            <a:srgbClr val="9BC53D"/>
          </a:solidFill>
          <a:ln w="12700">
            <a:solidFill>
              <a:srgbClr val="9BC5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67278" y="1828800"/>
            <a:ext cx="2635758" cy="1280160"/>
          </a:xfrm>
          <a:prstGeom prst="rect">
            <a:avLst/>
          </a:prstGeom>
          <a:solidFill>
            <a:srgbClr val="4A7C3A"/>
          </a:solidFill>
          <a:ln w="12700">
            <a:solidFill>
              <a:srgbClr val="4A7C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95878" y="1965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95878" y="2240280"/>
            <a:ext cx="21785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95878" y="2743200"/>
            <a:ext cx="21785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Zoning, layout, parking, and outdoor space score the daycare path.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 rot="5400000">
            <a:off x="6021324" y="2331720"/>
            <a:ext cx="137160" cy="274320"/>
          </a:xfrm>
          <a:prstGeom prst="rtTriangle">
            <a:avLst/>
          </a:prstGeom>
          <a:solidFill>
            <a:srgbClr val="9BC53D"/>
          </a:solidFill>
          <a:ln w="12700">
            <a:solidFill>
              <a:srgbClr val="9BC5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85916" y="1828800"/>
            <a:ext cx="2635758" cy="1280160"/>
          </a:xfrm>
          <a:prstGeom prst="rect">
            <a:avLst/>
          </a:prstGeom>
          <a:solidFill>
            <a:srgbClr val="4A7C3A"/>
          </a:solidFill>
          <a:ln w="12700">
            <a:solidFill>
              <a:srgbClr val="4A7C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4516" y="1965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14516" y="2240280"/>
            <a:ext cx="21785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14516" y="2743200"/>
            <a:ext cx="21785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track or daycare conversion track based on the score.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 rot="5400000">
            <a:off x="8839962" y="2331720"/>
            <a:ext cx="137160" cy="274320"/>
          </a:xfrm>
          <a:prstGeom prst="rtTriangle">
            <a:avLst/>
          </a:prstGeom>
          <a:solidFill>
            <a:srgbClr val="9BC53D"/>
          </a:solidFill>
          <a:ln w="12700">
            <a:solidFill>
              <a:srgbClr val="9BC5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04554" y="1828800"/>
            <a:ext cx="2635758" cy="1280160"/>
          </a:xfrm>
          <a:prstGeom prst="rect">
            <a:avLst/>
          </a:prstGeom>
          <a:solidFill>
            <a:srgbClr val="4A7C3A"/>
          </a:solidFill>
          <a:ln w="12700">
            <a:solidFill>
              <a:srgbClr val="4A7C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3154" y="1965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233154" y="2240280"/>
            <a:ext cx="21785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233154" y="2743200"/>
            <a:ext cx="21785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management. Standardized playbooks per track.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3566160"/>
            <a:ext cx="5532120" cy="2468880"/>
          </a:xfrm>
          <a:prstGeom prst="rect">
            <a:avLst/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794760"/>
            <a:ext cx="502920" cy="50292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417320" y="3840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  ·  STANDARD RENTAL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77240" y="443484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Stabilized cash flow, predictable operations.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upfront capex, faster time to rent.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for every property in the pipeline.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263640" y="3566160"/>
            <a:ext cx="5532120" cy="2468880"/>
          </a:xfrm>
          <a:prstGeom prst="rect">
            <a:avLst/>
          </a:prstGeom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794760"/>
            <a:ext cx="502920" cy="50292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132320" y="3840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B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  ·  LICENSED DAYCARE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6492240" y="443484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Commercial-tier revenue per square foot.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operator as anchor tenant on multi-year terms.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capex, higher return, stickier income.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·  Partner Alignment Draft  ·  May 2026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10817352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per square foot, side by side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7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2,000 sq ft property. Two operating modes. Materially different yield.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68580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737360"/>
            <a:ext cx="3931920" cy="4572000"/>
          </a:xfrm>
          <a:prstGeom prst="rect">
            <a:avLst/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46720" y="192024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3x</a:t>
            </a:r>
            <a:endParaRPr lang="en-US" sz="9600" dirty="0"/>
          </a:p>
        </p:txBody>
      </p:sp>
      <p:sp>
        <p:nvSpPr>
          <p:cNvPr id="7" name="Text 4"/>
          <p:cNvSpPr/>
          <p:nvPr/>
        </p:nvSpPr>
        <p:spPr>
          <a:xfrm>
            <a:off x="8046720" y="32918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uplift per square foot, daycare vs rental.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046720" y="4160520"/>
            <a:ext cx="548640" cy="36576"/>
          </a:xfrm>
          <a:prstGeom prst="rect">
            <a:avLst/>
          </a:prstGeom>
          <a:solidFill>
            <a:srgbClr val="9BC53D"/>
          </a:solidFill>
          <a:ln w="12700">
            <a:solidFill>
              <a:srgbClr val="9BC5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0" y="42976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Bothell baseline reference.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rates trend higher.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046720" y="5303520"/>
            <a:ext cx="1554480" cy="256032"/>
          </a:xfrm>
          <a:prstGeom prst="roundRect">
            <a:avLst>
              <a:gd name="adj" fmla="val 17857"/>
            </a:avLst>
          </a:prstGeom>
          <a:solidFill>
            <a:srgbClr val="C44536"/>
          </a:solidFill>
          <a:ln w="12700">
            <a:solidFill>
              <a:srgbClr val="C4453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46720" y="53035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to confirm rates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·  Partner Alignment Draft  ·  May 2026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817352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buy. Where we buy it.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7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repeatable property profile that scores on both tracks.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7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PROPERTY PROFILE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4231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23774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1,800–3,000 sq ft single-family or small multi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92608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0120" y="28803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 ≥ 6,000 sq ft with usable outdoor area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42900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0120" y="33832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 zoning that permits licensed daycare</a:t>
            </a:r>
            <a:endParaRPr lang="en-US" sz="13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931920"/>
            <a:ext cx="274320" cy="2743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60120" y="3886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Off-street parking for 4+ vehicles</a:t>
            </a:r>
            <a:endParaRPr lang="en-US" sz="13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434840"/>
            <a:ext cx="274320" cy="2743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60120" y="43891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 street, walkable to amenities</a:t>
            </a:r>
            <a:endParaRPr lang="en-US" sz="13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4937760"/>
            <a:ext cx="274320" cy="27432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60120" y="48920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Cosmetic-renovation candidates, not gut-rehab</a:t>
            </a:r>
            <a:endParaRPr lang="en-US" sz="1300" dirty="0"/>
          </a:p>
        </p:txBody>
      </p:sp>
      <p:sp>
        <p:nvSpPr>
          <p:cNvPr id="17" name="Shape 9"/>
          <p:cNvSpPr/>
          <p:nvPr/>
        </p:nvSpPr>
        <p:spPr>
          <a:xfrm>
            <a:off x="6675120" y="1828800"/>
            <a:ext cx="5029200" cy="4206240"/>
          </a:xfrm>
          <a:prstGeom prst="rect">
            <a:avLst/>
          </a:prstGeom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440" y="2103120"/>
            <a:ext cx="502920" cy="50292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7589520" y="2148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B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PIPELINE</a:t>
            </a:r>
            <a:endParaRPr lang="en-US" sz="1200" dirty="0"/>
          </a:p>
        </p:txBody>
      </p:sp>
      <p:sp>
        <p:nvSpPr>
          <p:cNvPr id="20" name="Text 11"/>
          <p:cNvSpPr/>
          <p:nvPr/>
        </p:nvSpPr>
        <p:spPr>
          <a:xfrm>
            <a:off x="6949440" y="28346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Bothell, WA</a:t>
            </a:r>
            <a:endParaRPr lang="en-US" sz="2200" dirty="0"/>
          </a:p>
        </p:txBody>
      </p:sp>
      <p:sp>
        <p:nvSpPr>
          <p:cNvPr id="21" name="Text 12"/>
          <p:cNvSpPr/>
          <p:nvPr/>
        </p:nvSpPr>
        <p:spPr>
          <a:xfrm>
            <a:off x="6949440" y="33375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property. Owned. Operating as rental today.</a:t>
            </a:r>
            <a:endParaRPr lang="en-US" sz="1200" dirty="0"/>
          </a:p>
        </p:txBody>
      </p:sp>
      <p:sp>
        <p:nvSpPr>
          <p:cNvPr id="22" name="Text 13"/>
          <p:cNvSpPr/>
          <p:nvPr/>
        </p:nvSpPr>
        <p:spPr>
          <a:xfrm>
            <a:off x="6949440" y="38862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BC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23" name="Text 14"/>
          <p:cNvSpPr/>
          <p:nvPr/>
        </p:nvSpPr>
        <p:spPr>
          <a:xfrm>
            <a:off x="8458200" y="394106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in portfolio</a:t>
            </a:r>
            <a:endParaRPr lang="en-US" sz="1200" dirty="0"/>
          </a:p>
        </p:txBody>
      </p:sp>
      <p:sp>
        <p:nvSpPr>
          <p:cNvPr id="24" name="Text 15"/>
          <p:cNvSpPr/>
          <p:nvPr/>
        </p:nvSpPr>
        <p:spPr>
          <a:xfrm>
            <a:off x="6949440" y="43891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BC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 + CA</a:t>
            </a:r>
            <a:endParaRPr lang="en-US" sz="2000" dirty="0"/>
          </a:p>
        </p:txBody>
      </p:sp>
      <p:sp>
        <p:nvSpPr>
          <p:cNvPr id="25" name="Text 16"/>
          <p:cNvSpPr/>
          <p:nvPr/>
        </p:nvSpPr>
        <p:spPr>
          <a:xfrm>
            <a:off x="8458200" y="444398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geographies under evaluation</a:t>
            </a:r>
            <a:endParaRPr lang="en-US" sz="1200" dirty="0"/>
          </a:p>
        </p:txBody>
      </p:sp>
      <p:sp>
        <p:nvSpPr>
          <p:cNvPr id="26" name="Text 17"/>
          <p:cNvSpPr/>
          <p:nvPr/>
        </p:nvSpPr>
        <p:spPr>
          <a:xfrm>
            <a:off x="6949440" y="48920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BC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 2026</a:t>
            </a:r>
            <a:endParaRPr lang="en-US" sz="2000" dirty="0"/>
          </a:p>
        </p:txBody>
      </p:sp>
      <p:sp>
        <p:nvSpPr>
          <p:cNvPr id="27" name="Text 18"/>
          <p:cNvSpPr/>
          <p:nvPr/>
        </p:nvSpPr>
        <p:spPr>
          <a:xfrm>
            <a:off x="8458200" y="494690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for second acquisition</a:t>
            </a:r>
            <a:endParaRPr lang="en-US" sz="1200" dirty="0"/>
          </a:p>
        </p:txBody>
      </p:sp>
      <p:sp>
        <p:nvSpPr>
          <p:cNvPr id="28" name="Shape 19"/>
          <p:cNvSpPr/>
          <p:nvPr/>
        </p:nvSpPr>
        <p:spPr>
          <a:xfrm>
            <a:off x="6949440" y="5532120"/>
            <a:ext cx="1554480" cy="256032"/>
          </a:xfrm>
          <a:prstGeom prst="roundRect">
            <a:avLst>
              <a:gd name="adj" fmla="val 17857"/>
            </a:avLst>
          </a:prstGeom>
          <a:solidFill>
            <a:srgbClr val="C44536"/>
          </a:solidFill>
          <a:ln w="12700">
            <a:solidFill>
              <a:srgbClr val="C44536"/>
            </a:solidFill>
            <a:prstDash val="solid"/>
          </a:ln>
        </p:spPr>
      </p:sp>
      <p:sp>
        <p:nvSpPr>
          <p:cNvPr id="29" name="Text 20"/>
          <p:cNvSpPr/>
          <p:nvPr/>
        </p:nvSpPr>
        <p:spPr>
          <a:xfrm>
            <a:off x="6949440" y="55321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to confirm pipeline</a:t>
            </a:r>
            <a:endParaRPr lang="en-US" sz="900" dirty="0"/>
          </a:p>
        </p:txBody>
      </p:sp>
      <p:sp>
        <p:nvSpPr>
          <p:cNvPr id="30" name="Text 2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·  Partner Alignment Draft  ·  May 2026</a:t>
            </a:r>
            <a:endParaRPr lang="en-US" sz="900" dirty="0"/>
          </a:p>
        </p:txBody>
      </p:sp>
      <p:sp>
        <p:nvSpPr>
          <p:cNvPr id="31" name="Text 22"/>
          <p:cNvSpPr/>
          <p:nvPr/>
        </p:nvSpPr>
        <p:spPr>
          <a:xfrm>
            <a:off x="10817352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math on a single door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7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2,000 sq ft property. Annualized, pre-tax.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71323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046720" y="1783080"/>
            <a:ext cx="3657600" cy="914400"/>
          </a:xfrm>
          <a:prstGeom prst="rect">
            <a:avLst/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046720" y="1783080"/>
            <a:ext cx="73152" cy="914400"/>
          </a:xfrm>
          <a:prstGeom prst="rect">
            <a:avLst/>
          </a:prstGeom>
          <a:solidFill>
            <a:srgbClr val="9BC53D"/>
          </a:solidFill>
          <a:ln w="12700">
            <a:solidFill>
              <a:srgbClr val="9BC5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75320" y="1856232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$66K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9875520" y="1856232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before debt, daycare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046720" y="2862072"/>
            <a:ext cx="3657600" cy="914400"/>
          </a:xfrm>
          <a:prstGeom prst="rect">
            <a:avLst/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046720" y="2862072"/>
            <a:ext cx="73152" cy="914400"/>
          </a:xfrm>
          <a:prstGeom prst="rect">
            <a:avLst/>
          </a:prstGeom>
          <a:solidFill>
            <a:srgbClr val="9BC53D"/>
          </a:solidFill>
          <a:ln w="12700">
            <a:solidFill>
              <a:srgbClr val="9BC5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75320" y="2935224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$22K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9875520" y="2935224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before debt, rental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046720" y="3941064"/>
            <a:ext cx="3657600" cy="914400"/>
          </a:xfrm>
          <a:prstGeom prst="rect">
            <a:avLst/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046720" y="3941064"/>
            <a:ext cx="73152" cy="914400"/>
          </a:xfrm>
          <a:prstGeom prst="rect">
            <a:avLst/>
          </a:prstGeom>
          <a:solidFill>
            <a:srgbClr val="9BC53D"/>
          </a:solidFill>
          <a:ln w="12700">
            <a:solidFill>
              <a:srgbClr val="9BC5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75320" y="4014216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3.0x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9875520" y="4014216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yield uplift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046720" y="5020056"/>
            <a:ext cx="3657600" cy="914400"/>
          </a:xfrm>
          <a:prstGeom prst="rect">
            <a:avLst/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46720" y="5020056"/>
            <a:ext cx="73152" cy="914400"/>
          </a:xfrm>
          <a:prstGeom prst="rect">
            <a:avLst/>
          </a:prstGeom>
          <a:solidFill>
            <a:srgbClr val="9BC53D"/>
          </a:solidFill>
          <a:ln w="12700">
            <a:solidFill>
              <a:srgbClr val="9BC5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75320" y="5093208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~60%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9875520" y="5093208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margin, both tracks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583680" y="6080760"/>
            <a:ext cx="1554480" cy="256032"/>
          </a:xfrm>
          <a:prstGeom prst="roundRect">
            <a:avLst>
              <a:gd name="adj" fmla="val 17857"/>
            </a:avLst>
          </a:prstGeom>
          <a:solidFill>
            <a:srgbClr val="C44536"/>
          </a:solidFill>
          <a:ln w="12700">
            <a:solidFill>
              <a:srgbClr val="C4453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83680" y="60807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to confirm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·  Partner Alignment Draft  ·  May 2026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0817352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split the work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7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operators. Distinct lanes. Shared P&amp;L.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532120" cy="4572000"/>
          </a:xfrm>
          <a:prstGeom prst="rect">
            <a:avLst/>
          </a:prstGeom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5532120" cy="109728"/>
          </a:xfrm>
          <a:prstGeom prst="rect">
            <a:avLst/>
          </a:prstGeom>
          <a:solidFill>
            <a:srgbClr val="9BC53D"/>
          </a:solidFill>
          <a:ln w="12700">
            <a:solidFill>
              <a:srgbClr val="9BC53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4884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78892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Megan Green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914400" y="33375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 ·  Operations &amp; Childcare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3886200"/>
            <a:ext cx="4800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Daycare licensing and compliance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relationships and staffing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 program design and quality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 P&amp;L ownership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4400" y="580644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C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Things are green.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263640" y="1783080"/>
            <a:ext cx="5532120" cy="4572000"/>
          </a:xfrm>
          <a:prstGeom prst="rect">
            <a:avLst/>
          </a:prstGeom>
          <a:solidFill>
            <a:srgbClr val="F4F1E8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63640" y="1783080"/>
            <a:ext cx="5532120" cy="109728"/>
          </a:xfrm>
          <a:prstGeom prst="rect">
            <a:avLst/>
          </a:prstGeom>
          <a:solidFill>
            <a:srgbClr val="9BC53D"/>
          </a:solidFill>
          <a:ln w="12700">
            <a:solidFill>
              <a:srgbClr val="9BC53D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14884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629400" y="278892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Kevin Lappe</a:t>
            </a:r>
            <a:endParaRPr lang="en-US" sz="2800" dirty="0"/>
          </a:p>
        </p:txBody>
      </p:sp>
      <p:sp>
        <p:nvSpPr>
          <p:cNvPr id="15" name="Text 11"/>
          <p:cNvSpPr/>
          <p:nvPr/>
        </p:nvSpPr>
        <p:spPr>
          <a:xfrm>
            <a:off x="6629400" y="33375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7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 ·  Capital &amp; Strategy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629400" y="3886200"/>
            <a:ext cx="4800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Acquisitions, financing, and underwriting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management and tech stack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Reporting, analytics, and entity structure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 P&amp;L ownership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629400" y="580644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7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 light to grow.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·  Partner Alignment Draft  ·  May 2026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0817352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happens in the next 90 days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7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points, not aspirations.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3474720"/>
            <a:ext cx="10725912" cy="54864"/>
          </a:xfrm>
          <a:prstGeom prst="rect">
            <a:avLst/>
          </a:prstGeom>
          <a:solidFill>
            <a:srgbClr val="4A7C3A"/>
          </a:solidFill>
          <a:ln w="12700">
            <a:solidFill>
              <a:srgbClr val="4A7C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39519" y="3337560"/>
            <a:ext cx="329184" cy="329184"/>
          </a:xfrm>
          <a:prstGeom prst="ellipse">
            <a:avLst/>
          </a:prstGeom>
          <a:solidFill>
            <a:srgbClr val="9BC53D"/>
          </a:solidFill>
          <a:ln w="25400">
            <a:solidFill>
              <a:srgbClr val="1F3D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64031" y="2834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2551" y="3931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 alignment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2551" y="443484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thesis, brand, split, and target profile.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84702" y="3337560"/>
            <a:ext cx="329184" cy="329184"/>
          </a:xfrm>
          <a:prstGeom prst="ellipse">
            <a:avLst/>
          </a:prstGeom>
          <a:solidFill>
            <a:srgbClr val="9BC53D"/>
          </a:solidFill>
          <a:ln w="25400">
            <a:solidFill>
              <a:srgbClr val="1F3D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09214" y="2834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97734" y="3931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Entity &amp; docs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897734" y="443484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Green Lappe Properties LLC. Operating agreement signed.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29884" y="3337560"/>
            <a:ext cx="329184" cy="329184"/>
          </a:xfrm>
          <a:prstGeom prst="ellipse">
            <a:avLst/>
          </a:prstGeom>
          <a:solidFill>
            <a:srgbClr val="9BC53D"/>
          </a:solidFill>
          <a:ln w="25400">
            <a:solidFill>
              <a:srgbClr val="1F3D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54396" y="2834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42916" y="3931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Bothell decision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42916" y="443484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as rental or list for sale to fund CA acquisition.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75066" y="3337560"/>
            <a:ext cx="329184" cy="329184"/>
          </a:xfrm>
          <a:prstGeom prst="ellipse">
            <a:avLst/>
          </a:prstGeom>
          <a:solidFill>
            <a:srgbClr val="9BC53D"/>
          </a:solidFill>
          <a:ln w="25400">
            <a:solidFill>
              <a:srgbClr val="1F3D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99578" y="2834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88098" y="3931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Acquisition target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188098" y="443484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first CA property scoring on both tracks.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220249" y="3337560"/>
            <a:ext cx="329184" cy="329184"/>
          </a:xfrm>
          <a:prstGeom prst="ellipse">
            <a:avLst/>
          </a:prstGeom>
          <a:solidFill>
            <a:srgbClr val="9BC53D"/>
          </a:solidFill>
          <a:ln w="25400">
            <a:solidFill>
              <a:srgbClr val="1F3D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44761" y="2834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333281" y="3931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Daycare licensing path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333281" y="443484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conversations, zoning confirmation, capex estimate.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532120"/>
            <a:ext cx="11091672" cy="822960"/>
          </a:xfrm>
          <a:prstGeom prst="rect">
            <a:avLst/>
          </a:prstGeom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715000"/>
            <a:ext cx="457200" cy="45720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371600" y="5577840"/>
            <a:ext cx="10177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decision: greenlight Green Lappe Properties.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371600" y="6035040"/>
            <a:ext cx="10177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thesis. Form the entity. Move to acquisition.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·  Partner Alignment Draft  ·  May 2026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0817352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Branding system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·  Palette · typography · voice · taglines · logo direction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417320" cy="960120"/>
          </a:xfrm>
          <a:prstGeom prst="rect">
            <a:avLst/>
          </a:prstGeom>
          <a:solidFill>
            <a:srgbClr val="1F3D2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0632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29184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#1F3D2B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349300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03120" y="2011680"/>
            <a:ext cx="1417320" cy="960120"/>
          </a:xfrm>
          <a:prstGeom prst="rect">
            <a:avLst/>
          </a:prstGeom>
          <a:solidFill>
            <a:srgbClr val="4A7C3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03120" y="30632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03120" y="329184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#4A7C3A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103120" y="349300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0" y="2011680"/>
            <a:ext cx="1417320" cy="960120"/>
          </a:xfrm>
          <a:prstGeom prst="rect">
            <a:avLst/>
          </a:prstGeom>
          <a:solidFill>
            <a:srgbClr val="9BC53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30632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0" y="329184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#9BC53D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0" y="349300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212080" y="2011680"/>
            <a:ext cx="1417320" cy="960120"/>
          </a:xfrm>
          <a:prstGeom prst="rect">
            <a:avLst/>
          </a:prstGeom>
          <a:solidFill>
            <a:srgbClr val="F4F1E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0" y="30632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12080" y="329184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#F4F1E8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212080" y="349300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766560" y="2011680"/>
            <a:ext cx="1417320" cy="960120"/>
          </a:xfrm>
          <a:prstGeom prst="rect">
            <a:avLst/>
          </a:prstGeom>
          <a:solidFill>
            <a:srgbClr val="1A1A1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30632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66560" y="329184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#1A1A1A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66560" y="349300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text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0" y="20116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Georgia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8229600" y="2560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Headers, brand marks, taglines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29600" y="2880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Calibri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8229600" y="3337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Body, bullets, captions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3886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420624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Plainspoken, not corporate.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voice. Concrete numbers.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Wordplay on green is a feature, not a tic.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without sounding clever.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760720" y="3886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TAGLINES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760720" y="4251960"/>
            <a:ext cx="36576" cy="411480"/>
          </a:xfrm>
          <a:prstGeom prst="rect">
            <a:avLst/>
          </a:prstGeom>
          <a:solidFill>
            <a:srgbClr val="9BC53D"/>
          </a:solidFill>
          <a:ln w="12700">
            <a:solidFill>
              <a:srgbClr val="9BC5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42519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grass is greener on this side.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897880" y="44622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tagline. Cover and external.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760720" y="4754880"/>
            <a:ext cx="36576" cy="411480"/>
          </a:xfrm>
          <a:prstGeom prst="rect">
            <a:avLst/>
          </a:prstGeom>
          <a:solidFill>
            <a:srgbClr val="9BC53D"/>
          </a:solidFill>
          <a:ln w="12700">
            <a:solidFill>
              <a:srgbClr val="9BC5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97880" y="47548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Things are green.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897880" y="49651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health. Partner updates.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760720" y="5257800"/>
            <a:ext cx="36576" cy="411480"/>
          </a:xfrm>
          <a:prstGeom prst="rect">
            <a:avLst/>
          </a:prstGeom>
          <a:solidFill>
            <a:srgbClr val="9BC53D"/>
          </a:solidFill>
          <a:ln w="12700">
            <a:solidFill>
              <a:srgbClr val="9BC5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97880" y="52578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save you green.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897880" y="54681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Owner-facing. Efficiency story.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760720" y="5760720"/>
            <a:ext cx="36576" cy="411480"/>
          </a:xfrm>
          <a:prstGeom prst="rect">
            <a:avLst/>
          </a:prstGeom>
          <a:solidFill>
            <a:srgbClr val="9BC53D"/>
          </a:solidFill>
          <a:ln w="12700">
            <a:solidFill>
              <a:srgbClr val="9BC5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97880" y="57607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 light to grow.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897880" y="5971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and expansion.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058400" y="3886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DIRECTION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0058400" y="4251960"/>
            <a:ext cx="1828800" cy="1554480"/>
          </a:xfrm>
          <a:prstGeom prst="rect">
            <a:avLst/>
          </a:prstGeom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pic>
        <p:nvPicPr>
          <p:cNvPr id="4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0" y="4343400"/>
            <a:ext cx="548640" cy="548640"/>
          </a:xfrm>
          <a:prstGeom prst="rect">
            <a:avLst/>
          </a:prstGeom>
        </p:spPr>
      </p:pic>
      <p:sp>
        <p:nvSpPr>
          <p:cNvPr id="48" name="Text 45"/>
          <p:cNvSpPr/>
          <p:nvPr/>
        </p:nvSpPr>
        <p:spPr>
          <a:xfrm>
            <a:off x="10058400" y="4937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 Lappe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10058400" y="5212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9BC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PROPERTIES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10058400" y="58978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Sprout mark + wordmark.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Pronounced LAP-ee.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·  Partner Alignment Draft  ·  May 2026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10817352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Numbers to confirm before the meeting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7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in this draft tied to a real input. Confirm or correct.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097280" cy="365760"/>
          </a:xfrm>
          <a:prstGeom prst="rect">
            <a:avLst/>
          </a:prstGeom>
          <a:solidFill>
            <a:srgbClr val="C44536"/>
          </a:solidFill>
          <a:ln w="12700">
            <a:solidFill>
              <a:srgbClr val="C445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28800" y="1737360"/>
            <a:ext cx="9811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per sq ft: $1.50 rental, $4.50 daycare. Sourced from Bothell baseline; CA comps not yet verified.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496312"/>
            <a:ext cx="1097280" cy="365760"/>
          </a:xfrm>
          <a:prstGeom prst="rect">
            <a:avLst/>
          </a:prstGeom>
          <a:solidFill>
            <a:srgbClr val="C44536"/>
          </a:solidFill>
          <a:ln w="12700">
            <a:solidFill>
              <a:srgbClr val="C445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49631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28800" y="2450592"/>
            <a:ext cx="9811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state: Bothell as only property; CA acquisition target Q3 2026. Confirm timing and capital availability.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09544"/>
            <a:ext cx="1097280" cy="365760"/>
          </a:xfrm>
          <a:prstGeom prst="rect">
            <a:avLst/>
          </a:prstGeom>
          <a:solidFill>
            <a:srgbClr val="C44536"/>
          </a:solidFill>
          <a:ln w="12700">
            <a:solidFill>
              <a:srgbClr val="C445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20954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0" y="3163824"/>
            <a:ext cx="9811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unit economics on 2,000 sq ft. Confirm gross revenue, opex ratio, and net assumptions for both tracks.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922776"/>
            <a:ext cx="1097280" cy="365760"/>
          </a:xfrm>
          <a:prstGeom prst="rect">
            <a:avLst/>
          </a:prstGeom>
          <a:solidFill>
            <a:srgbClr val="C44536"/>
          </a:solidFill>
          <a:ln w="12700">
            <a:solidFill>
              <a:srgbClr val="C445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92277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28800" y="3877056"/>
            <a:ext cx="9811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Daycare opex modeled at 39% of gross. May understate licensing, insurance, and staffing overhead.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636008"/>
            <a:ext cx="1097280" cy="365760"/>
          </a:xfrm>
          <a:prstGeom prst="rect">
            <a:avLst/>
          </a:prstGeom>
          <a:solidFill>
            <a:srgbClr val="C44536"/>
          </a:solidFill>
          <a:ln w="12700">
            <a:solidFill>
              <a:srgbClr val="C4453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6360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828800" y="4590288"/>
            <a:ext cx="9811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Bothell July decision (hold vs sell) and CA acquisition August target. Confirm or move.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349240"/>
            <a:ext cx="1097280" cy="365760"/>
          </a:xfrm>
          <a:prstGeom prst="rect">
            <a:avLst/>
          </a:prstGeom>
          <a:solidFill>
            <a:srgbClr val="C44536"/>
          </a:solidFill>
          <a:ln w="12700">
            <a:solidFill>
              <a:srgbClr val="C4453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3492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828800" y="5303520"/>
            <a:ext cx="9811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name, brand pronunciation (LAP-ee), and Megan Green role scope. Confirm before external use.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·  Partner Alignment Draft  ·  May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817352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Lappe Properties: Partner Alignment</dc:title>
  <dc:subject>PptxGenJS Presentation</dc:subject>
  <dc:creator>Kevin Lappe</dc:creator>
  <cp:lastModifiedBy>Kevin Lappe</cp:lastModifiedBy>
  <cp:revision>1</cp:revision>
  <dcterms:created xsi:type="dcterms:W3CDTF">2026-05-19T22:24:06Z</dcterms:created>
  <dcterms:modified xsi:type="dcterms:W3CDTF">2026-05-19T22:24:06Z</dcterms:modified>
</cp:coreProperties>
</file>