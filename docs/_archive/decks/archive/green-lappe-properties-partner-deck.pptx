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per sqft</c:v>
                </c:pt>
              </c:strCache>
            </c:strRef>
          </c:tx>
          <c:spPr>
            <a:solidFill>
              <a:srgbClr val="4A8C5C">
                <a:alpha val="100000"/>
              </a:srgbClr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B3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8C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C3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Standard rental</c:v>
                  </c:pt>
                  <c:pt idx="1">
                    <c:v>Licensed daycare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</c:v>
                </c:pt>
                <c:pt idx="1">
                  <c:v>6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1" i="0" strike="noStrike" sz="1400" u="none">
                  <a:solidFill>
                    <a:srgbClr val="0B3D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2F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Rental NOI</c:v>
                  </c:pt>
                  <c:pt idx="1">
                    <c:v>+ Daycare uplift</c:v>
                  </c:pt>
                  <c:pt idx="2">
                    <c:v>− Conversion amort.</c:v>
                  </c:pt>
                  <c:pt idx="3">
                    <c:v>− Licensing/ops</c:v>
                  </c:pt>
                  <c:pt idx="4">
                    <c:v>Stabilized NOI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30</c:v>
                </c:pt>
                <c:pt idx="2">
                  <c:v>115</c:v>
                </c:pt>
                <c:pt idx="3">
                  <c:v>95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</c:v>
                </c:pt>
              </c:strCache>
            </c:strRef>
          </c:tx>
          <c:spPr>
            <a:solidFill>
              <a:srgbClr val="1F6B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Rental NOI</c:v>
                  </c:pt>
                  <c:pt idx="1">
                    <c:v>+ Daycare uplift</c:v>
                  </c:pt>
                  <c:pt idx="2">
                    <c:v>− Conversion amort.</c:v>
                  </c:pt>
                  <c:pt idx="3">
                    <c:v>− Licensing/ops</c:v>
                  </c:pt>
                  <c:pt idx="4">
                    <c:v>Stabilized NOI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110</c:v>
                </c:pt>
                <c:pt idx="2">
                  <c:v>25</c:v>
                </c:pt>
                <c:pt idx="3">
                  <c:v>20</c:v>
                </c:pt>
                <c:pt idx="4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F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0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2286000"/>
            <a:ext cx="8229600" cy="8229600"/>
          </a:xfrm>
          <a:prstGeom prst="ellipse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914400"/>
            <a:ext cx="4572000" cy="4572000"/>
          </a:xfrm>
          <a:prstGeom prst="ellipse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731520"/>
            <a:ext cx="1371600" cy="1371600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Lappe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Properties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73152" cy="146304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0233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grass is greener on this side.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alignment deck  ·  Megan Green + Kevin Lappe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Pronounced “Green LAP-ee.” Rhymes with happy.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“Green Lappe”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name. Two surnames. A wordplay engine.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828800"/>
            <a:ext cx="2651760" cy="164592"/>
          </a:xfrm>
          <a:prstGeom prst="rect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B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Grass is greener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side is the one tenants and families want to land 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828800"/>
            <a:ext cx="2651760" cy="164592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are green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3794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flow, growth, and go-signals all point the same way.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828800"/>
            <a:ext cx="2651760" cy="164592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save you green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3794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economics that beat single-family rentals on yield.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18288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840" y="1828800"/>
            <a:ext cx="2651760" cy="164592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2354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light to grow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35440" y="3794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daycare conversions unlock revenue per square foot.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problem, and the opening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markets, one operator, one playbook.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09728" cy="4206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market is stuck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Single-family rentals are stuck at residential lease yields.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rarely combine real estate and licensed care.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supply is constrained in high-demand suburbs.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expertise and capital sit in different hands.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opening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houses that work as rentals on day one.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right ones into licensed daycare.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multiples of revenue per square foot.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two cash flows under one roof.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products, one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property earns as a rental. The best ones graduate.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240280"/>
            <a:ext cx="822960" cy="822960"/>
          </a:xfrm>
          <a:prstGeom prst="ellipse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Acquire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Single-family homes in licensable suburbs. Lot, layout, zoning fit.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41648" y="3337560"/>
            <a:ext cx="237744" cy="457200"/>
          </a:xfrm>
          <a:prstGeom prst="chevron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92024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240280"/>
            <a:ext cx="822960" cy="822960"/>
          </a:xfrm>
          <a:prstGeom prst="ellipse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Operate as rental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3977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while we underwrite, permit, and queue conversion.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3337560"/>
            <a:ext cx="237744" cy="457200"/>
          </a:xfrm>
          <a:prstGeom prst="chevron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92024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240280"/>
            <a:ext cx="822960" cy="822960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 to daycare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412480" y="3977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License, retrofit, lease to operator or run in-house.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stacks: rental cash flow funds the conversion runway; conversion lifts both income and asset value.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per square foot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square footage. Very different yield.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828800"/>
            <a:ext cx="3840480" cy="42062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20116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4x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795528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sqft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0" y="42062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 licensure converts living space into billable child-slot space.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building. Same lot. Higher use.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6126480"/>
            <a:ext cx="411480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1447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CONFIRM: rental $/sqft, daycare $/sqft, market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and target profile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Bothell anchors the portfolio. Profile drives the next buys.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09728" cy="4206240"/>
          </a:xfrm>
          <a:prstGeom prst="rect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pipeline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4846320" cy="91440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Bothell, WA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asset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Rental, conversion candidate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611880"/>
            <a:ext cx="4846320" cy="91440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#2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SFH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663440"/>
            <a:ext cx="4846320" cy="91440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#3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5120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SFH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828800"/>
            <a:ext cx="109728" cy="420624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property profile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4652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– 3,500 sqft, single story preferred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3063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play space, parking, drop-off access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3611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0" y="3611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Daycare-permitted or variance-friendly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Family-dense suburbs, daycare wait-listed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4709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0" y="4709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Cosmetic-to-light rehab, no structural lift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5257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Rentable Day 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0" y="5257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while licensing proceeds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6126480"/>
            <a:ext cx="411480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1447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CONFIRM: Bothell numbers, target #2/#3 candidates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property, annualized. Illustrative on a 2,500 sqft home.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51760" cy="146304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2651760" cy="9144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gross / yr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51760" cy="146304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828800"/>
            <a:ext cx="2651760" cy="9144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$180K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5204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 gross / yr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2651760" cy="146304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828800"/>
            <a:ext cx="2651760" cy="914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4x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550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1828800"/>
            <a:ext cx="2651760" cy="146304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1828800"/>
            <a:ext cx="265176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~$75K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18972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capex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3566160"/>
          <a:ext cx="11064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48640" y="6126480"/>
            <a:ext cx="411480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61447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CONFIRM: rental gross, daycare gross, capex, NOI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does what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operators, complementary lanes, one shared P&amp;L.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577840" cy="1828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1188720" cy="1188720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4028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Megan Green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402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licensure lead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 licensing pathway and inspections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model, curriculum, enrollment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relationships, parent demand-side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site operations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577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828800"/>
            <a:ext cx="5577840" cy="182880"/>
          </a:xfrm>
          <a:prstGeom prst="rect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286000"/>
            <a:ext cx="1188720" cy="1188720"/>
          </a:xfrm>
          <a:prstGeom prst="ellipse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00100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Kevin Lappe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0100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Capital, real estate &amp; systems lead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37490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Acquisitions, financing, asset management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reporting, tax (Schedule E / MACRS)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Tooling, dashboards, vendor systems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and partner communications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6126480"/>
            <a:ext cx="411480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1447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CONFIRM: ownership split + decision rights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Milestones, next 12 months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handshake to first licensed conversion.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0" y="3657600"/>
            <a:ext cx="8503920" cy="73152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3465576"/>
            <a:ext cx="457200" cy="457200"/>
          </a:xfrm>
          <a:prstGeom prst="ellipse">
            <a:avLst/>
          </a:prstGeom>
          <a:solidFill>
            <a:srgbClr val="8BC34A"/>
          </a:solidFill>
          <a:ln w="25400">
            <a:solidFill>
              <a:srgbClr val="0B3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377440" cy="146304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’26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Entity, op agreement, banking, Bothell into LLC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3465576"/>
            <a:ext cx="457200" cy="457200"/>
          </a:xfrm>
          <a:prstGeom prst="ellipse">
            <a:avLst/>
          </a:prstGeom>
          <a:solidFill>
            <a:srgbClr val="8BC34A"/>
          </a:solidFill>
          <a:ln w="25400">
            <a:solidFill>
              <a:srgbClr val="0B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1828800"/>
            <a:ext cx="2377440" cy="146304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’26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targets under LOI, licensing scoping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3465576"/>
            <a:ext cx="457200" cy="457200"/>
          </a:xfrm>
          <a:prstGeom prst="ellipse">
            <a:avLst/>
          </a:prstGeom>
          <a:solidFill>
            <a:srgbClr val="8BC34A"/>
          </a:solidFill>
          <a:ln w="25400">
            <a:solidFill>
              <a:srgbClr val="0B3D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2377440" cy="146304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’26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conversion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Permits, retrofit, licensing application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104120" y="3465576"/>
            <a:ext cx="457200" cy="457200"/>
          </a:xfrm>
          <a:prstGeom prst="ellipse">
            <a:avLst/>
          </a:prstGeom>
          <a:solidFill>
            <a:srgbClr val="8BC34A"/>
          </a:solidFill>
          <a:ln w="25400">
            <a:solidFill>
              <a:srgbClr val="0B3D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0412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0" y="1828800"/>
            <a:ext cx="2377440" cy="146304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’27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116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daycare #1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8116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Enrollment, stabilized operations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663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after this meeting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77240" y="50749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partnership terms and ownership split.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Bothell numbers and licensing path.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first target market and acquisition criteria.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8229600" cy="8229600"/>
          </a:xfrm>
          <a:prstGeom prst="ellipse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029200"/>
            <a:ext cx="3657600" cy="3657600"/>
          </a:xfrm>
          <a:prstGeom prst="ellipse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2011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0" y="25603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Branding system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114800" y="4114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Palette. Typography. Voice. Logo direction.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 need to look like ourselves.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Palette and typography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783080" cy="1645920"/>
          </a:xfrm>
          <a:prstGeom prst="rect">
            <a:avLst/>
          </a:prstGeom>
          <a:solidFill>
            <a:srgbClr val="0B3D2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Green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#0B3D2E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371600"/>
            <a:ext cx="1783080" cy="1645920"/>
          </a:xfrm>
          <a:prstGeom prst="rect">
            <a:avLst/>
          </a:prstGeom>
          <a:solidFill>
            <a:srgbClr val="1F6B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#1F6B47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1783080" cy="1645920"/>
          </a:xfrm>
          <a:prstGeom prst="rect">
            <a:avLst/>
          </a:prstGeom>
          <a:solidFill>
            <a:srgbClr val="4A8C5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#4A8C5C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371600"/>
            <a:ext cx="1783080" cy="1645920"/>
          </a:xfrm>
          <a:prstGeom prst="rect">
            <a:avLst/>
          </a:prstGeom>
          <a:solidFill>
            <a:srgbClr val="8BC34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#8BC34A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/ go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371600"/>
            <a:ext cx="1783080" cy="1645920"/>
          </a:xfrm>
          <a:prstGeom prst="rect">
            <a:avLst/>
          </a:prstGeom>
          <a:solidFill>
            <a:srgbClr val="C5E1A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#C5E1A5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 fill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921240" y="1371600"/>
            <a:ext cx="1783080" cy="164592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2124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#F5F7F2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2124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5394960" cy="201168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297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— Georgia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6177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grass is greener.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7724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6B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Italic accents in Georgia italic carry the voice.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4206240"/>
            <a:ext cx="5394960" cy="201168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297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— Calibri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617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 lines. One operating brand.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Calibri for body text, labels, captions, and chart annotations. Keep line length under 75 characters.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Voice, taglines, logo direction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577840" cy="466344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109728" cy="4663440"/>
          </a:xfrm>
          <a:prstGeom prst="rect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Active. Direct. A little playful.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sentences. Concrete numbers. One promise per slide.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on green wordplay where it lands naturally.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like operators, not marketers.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Overuse the gag. One green pun per page, max.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into corporate hedge language.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yields we can’t underwrite.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303520" cy="228600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371600"/>
            <a:ext cx="109728" cy="228600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Tagline system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18288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grass is greener on this side.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save you green.   ·   Green light to grow.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are green.   (internal, dashboards, ops)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3749040"/>
            <a:ext cx="5303520" cy="228600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109728" cy="228600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3840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direction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29400" y="4389120"/>
            <a:ext cx="822960" cy="822960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4572000"/>
            <a:ext cx="457200" cy="45720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4434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Lappe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43800" y="4846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5257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Wordmark with leaf-counter mark. Stacked and inline lockups.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Green or Forest on cream. Fresh accent for the leaf only.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 to confirm before the meeting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is illustrative until Kevin signs off.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789920" cy="41148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1800" y="173736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0412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762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sqft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71800" y="2176272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rental $/sqft/mo and licensed daycare $/sqft/mo, market-specific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04120" y="21762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6791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Bothell anchor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2679192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basis, current rent, sqft, mortgage, NOI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104120" y="26791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821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3182112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named acquisition targets, criteria + budget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04120" y="31821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6850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capex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0" y="3685032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+ retrofit cost, $/sqft assumption for daycare buildout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04120" y="36850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879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Stabilized NOI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71800" y="4187952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 gross, payroll/food/insurance, vacancy, debt service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104120" y="41879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690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71800" y="4690872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split, decision rights, capital contributions, draws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04120" y="46908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1937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path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71800" y="5193792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or CA first, slot count by ages, ratio rules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04120" y="51937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870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Every flagged figure in this deck is a placeholder. Walk through this table before sharing externally.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Lappe Properties — Partner Alignment</dc:title>
  <dc:subject>PptxGenJS Presentation</dc:subject>
  <dc:creator>Green Lappe Properties</dc:creator>
  <cp:lastModifiedBy>Green Lappe Properties</cp:lastModifiedBy>
  <cp:revision>1</cp:revision>
  <dcterms:created xsi:type="dcterms:W3CDTF">2026-05-19T22:21:52Z</dcterms:created>
  <dcterms:modified xsi:type="dcterms:W3CDTF">2026-05-19T22:21:52Z</dcterms:modified>
</cp:coreProperties>
</file>