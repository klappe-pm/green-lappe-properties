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gross management revenue ($)</c:v>
                </c:pt>
              </c:strCache>
            </c:strRef>
          </c:tx>
          <c:spPr>
            <a:solidFill>
              <a:srgbClr val="1F4D2E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F4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 doors</c:v>
                  </c:pt>
                  <c:pt idx="1">
                    <c:v>15 doors</c:v>
                  </c:pt>
                  <c:pt idx="2">
                    <c:v>30 doors</c:v>
                  </c:pt>
                  <c:pt idx="3">
                    <c:v>50 doors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19200</c:v>
                </c:pt>
                <c:pt idx="1">
                  <c:v>57600</c:v>
                </c:pt>
                <c:pt idx="2">
                  <c:v>115200</c:v>
                </c:pt>
                <c:pt idx="3">
                  <c:v>192000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900" u="none">
                  <a:solidFill>
                    <a:srgbClr val="1F4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0" b="1" spc="-200" kern="0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15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LAPPE</a:t>
            </a:r>
            <a:endParaRPr lang="en-US" sz="11500" dirty="0"/>
          </a:p>
        </p:txBody>
      </p:sp>
      <p:sp>
        <p:nvSpPr>
          <p:cNvPr id="4" name="Text 2"/>
          <p:cNvSpPr/>
          <p:nvPr/>
        </p:nvSpPr>
        <p:spPr>
          <a:xfrm>
            <a:off x="59436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2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109728" cy="118872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463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property company that actually answers the phone,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tells you the truth when they do.</a:t>
            </a:r>
            <a:endParaRPr lang="en-US" sz="2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alignment deck. May 2026.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 +  KEVIN LAPPE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property management company,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as a two-sided marketplace.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pay for service. Renters pay rent. We are paid by both, and accountable to both.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managers treat the owner as the customer and the renter as inventory. That is the source of every pain point on the next two slides.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572000"/>
            <a:ext cx="73152" cy="155448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+ SNOHOMISH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geography. Reachable in 90 minutes.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45720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4572000"/>
            <a:ext cx="73152" cy="155448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PORTFOLIO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property known by name.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457200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4572000"/>
            <a:ext cx="73152" cy="155448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HUMANS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or Kevin answers. Same name next time.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Renters get treated as a problem to be managed.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591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23591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requests vanish into a portal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591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920" y="23591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Habitability issues treated as routine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935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5935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returned short, slow, or arbitrarily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42900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5935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60920" y="35935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fees stack on top of advertised rent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280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4828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 with a real person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8280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4828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fees stack with no transparency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Green Lappe brand guide and PNW pain-point research. Sourced from renter reviews of Brink, Mynd, Cornell, T-Square, and Park 52.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 get ghosted after the contract is signed.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591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23591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make unilateral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591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920" y="235915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or evasive answers to hard 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935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5935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fees and vendor markups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42900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5935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60920" y="359359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terms locked in without approval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280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4828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Punitive termination, no clean exit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486400" cy="10515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8280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4828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inadequate for taxes and sale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from Kevin's experience with the Bothell property and GPM. Same patterns confirmed across the regional small-PM market.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King and Snohomish counties.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Fragmented. Underserved. Greenfield.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77440"/>
            <a:ext cx="91440" cy="164592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doors across the two counties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Small-owner rental + likely future conversions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37744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377440"/>
            <a:ext cx="91440" cy="164592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5146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75-78%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96112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small-owner units are self-managed today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RHFS 2021, Avail 2024, triangulated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06240"/>
            <a:ext cx="91440" cy="164592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9184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held by any single firm in the segment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fragmented, no consolidator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206240"/>
            <a:ext cx="91440" cy="164592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43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150-200K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96112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hold sub-3% mortgages and will rent before selling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0" y="5257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Rate-lock cohort, 8-15 yr median hold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Now. Next. Later.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402336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3611880" cy="4572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Owner-to-rental + managed tenancy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converting their home to a rental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rentals migrating off bad managers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management for both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as the founding property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286000"/>
            <a:ext cx="3611880" cy="4023360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2286000"/>
            <a:ext cx="3611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daycare conversions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3712" y="40233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FCC-eligible homes in target zoning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provider leases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higher revenue per square foot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provider list under construction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286000"/>
            <a:ext cx="3611880" cy="402336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2286000"/>
            <a:ext cx="3611880" cy="457200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0184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Adjacent verticals, TBD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0184" y="40233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DIY-owner tier (screening + lease only)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multifamily under 25 units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and tax referral revenue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held until Now is profitable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in detail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owner-to-rental pipeline.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owners do not know how to convert a home to a rental, and the firms that say they can will not return their calls. We do both halves: convert, then manage.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735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Walkthrough, rent comp, repair scope, mortgage and insurance check, compliance map.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0175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3246120"/>
            <a:ext cx="640080" cy="64008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2735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45262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Make-ready scope, vendor coordination, photos, lease drafted to RCW 59.18 and local ordinances.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3246120"/>
            <a:ext cx="640080" cy="64008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2735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5262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Marketed across NWMLS / Zillow / Apartments.com. Screening to a published standard. Owner sees the file before approval.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301752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81160" y="3246120"/>
            <a:ext cx="640080" cy="64008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32735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811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45262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collection, repair SLAs, owner statements, renewals, annual reviews. Same name answers next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commitments competitors do not make.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11430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73152" cy="11430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24hr fix-or-explain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Habitability issues acknowledged with a named technician inside one 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86400" cy="11430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194560"/>
            <a:ext cx="73152" cy="11430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Same-day owner reply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7614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owner inquiry acknowledged the same business day.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486400" cy="11430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20440"/>
            <a:ext cx="73152" cy="11430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Pass-through pricing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0873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invoices attached at cost. No markups.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486400" cy="11430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520440"/>
            <a:ext cx="73152" cy="11430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60-day no-fault exit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40873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leave on 60 days. Clean handoff inside 14.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486400" cy="11430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46320"/>
            <a:ext cx="73152" cy="11430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fee schedule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5413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on the website. Locked at contract signing.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5486400" cy="114300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846320"/>
            <a:ext cx="73152" cy="114300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property review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92240" y="5413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Condition, rent benchmark, capex call. Every owner, every year.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 on the wall: Leased Months.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943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LEASED MONTHS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months under signed lease across the portfolio, summed.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rewards the right things automatically.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stays another year: +12.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 month: 0.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Eviction: future months stop.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gouging: lost renewal months.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lease (5 yr): +60.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2286000"/>
            <a:ext cx="4846320" cy="384048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team contributes.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95160" y="3520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doors faster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renters longer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longer leases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owners longer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door. Ten years. $38,400.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2697480" cy="15544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market median)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2697480"/>
            <a:ext cx="2697480" cy="15544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management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door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697480"/>
            <a:ext cx="2697480" cy="15544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yr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client tenure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(rate-locked cohort)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2697480"/>
            <a:ext cx="2697480" cy="15544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$38,400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44000" y="36576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revenue per door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ancillary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MATH  ·  ANNUAL GROSS MANAGEMENT REVENUE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4754880"/>
          <a:ext cx="11064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fees at 8-10% of gross rent plus leasing and ancillary. Lifetime estimate excludes maintenance margin, renewal fees, and referral revenue. Source: Green Lappe rate-locked landlord analysis.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owns what.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23160"/>
            <a:ext cx="914400" cy="914400"/>
          </a:xfrm>
          <a:prstGeom prst="ellipse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face, owner relationships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on management agreements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onboarding and annual reviews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Renter-side communications and disputes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network and on-site presence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423160"/>
            <a:ext cx="914400" cy="91440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5895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systems, finance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trust account, compliance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software, reporting, dashboards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statements and year-end packets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 as founding property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tests. Binary outcomes.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737360" y="21945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Bothell under the new brand and contract terms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06640" y="21945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two additional residential properties from referral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737360" y="34747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pre-qualified list of three FCC providers (sets up Next)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3474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06640" y="34747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fee schedule on the public site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737360" y="47548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full year-end owner packet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06640" y="47548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one move-out cycle end-to-end, deposit returned on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we need to make.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or Kevin as designated broker; license path and timing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011680" y="3154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structure: single LLC or PropCo/OpCo split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31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011680" y="4023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split and capital contribution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011680" y="4892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at launch: full two-county or tight corridor (Bothell, Mill Creek, Kirkland)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669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011680" y="5760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model: flat fee, percent of rent, or hybrid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8D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system.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voice, taglines, palette, typography.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pronunciation, voice.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393192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 Properties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LAP-ee. Rhymes with happy.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first. Financial growth second. Pacific Northwest stewardship third.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Plain. Direct. Honest.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35661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verbs. Short sentences.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the open. Fees on the website.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earned through follow-through.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twee. Never corporate.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Tagline system.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property. Our problem.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line. Top of deck, top of site.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28600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Homes managed like they're ours.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Owner-facing materials, referral asks.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0624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on the lease is the number you pay.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Renter-facing site, application flow.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20624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your home to a rental, the whole way.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Owner-to-rental conversion landing page.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and type.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280160" cy="128016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#1F4D2E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560320"/>
            <a:ext cx="1280160" cy="1280160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#6FA56B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560320"/>
            <a:ext cx="1280160" cy="12801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#B8D84A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560320"/>
            <a:ext cx="1280160" cy="1280160"/>
          </a:xfrm>
          <a:prstGeom prst="rect">
            <a:avLst/>
          </a:prstGeom>
          <a:solidFill>
            <a:srgbClr val="F5F2E8"/>
          </a:solidFill>
          <a:ln w="6350">
            <a:solidFill>
              <a:srgbClr val="5C6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#F5F2E8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96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taglines, big numbers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89611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labels, tables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property. Our problem.</a:t>
            </a:r>
            <a:endParaRPr lang="en-US" sz="36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property. Our problem.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 +  Kevin Lappe  ·  Green Lappe Properties  · 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Green Lappe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 — Partner Alignment</dc:title>
  <dc:subject>PptxGenJS Presentation</dc:subject>
  <dc:creator>Kevin Lappe</dc:creator>
  <cp:lastModifiedBy>Kevin Lappe</cp:lastModifiedBy>
  <cp:revision>1</cp:revision>
  <dcterms:created xsi:type="dcterms:W3CDTF">2026-05-19T22:36:21Z</dcterms:created>
  <dcterms:modified xsi:type="dcterms:W3CDTF">2026-05-19T22:36:21Z</dcterms:modified>
</cp:coreProperties>
</file>