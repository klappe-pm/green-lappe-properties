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share of small-owner doors</c:v>
                </c:pt>
              </c:strCache>
            </c:strRef>
          </c:tx>
          <c:spPr>
            <a:solidFill>
              <a:srgbClr val="9BC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5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Self-managed</c:v>
                  </c:pt>
                  <c:pt idx="1">
                    <c:v>Local independents</c:v>
                  </c:pt>
                  <c:pt idx="2">
                    <c:v>Regional firms</c:v>
                  </c:pt>
                  <c:pt idx="3">
                    <c:v>National rollups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</c:v>
                </c:pt>
                <c:pt idx="1">
                  <c:v>14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F5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5A3D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F5A3D"/>
                </a:solidFill>
                <a:latin typeface="Georgia"/>
              </a:rPr>
              <a:t>Monthly recurring revenue per sq ft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per sq ft ($)</c:v>
                </c:pt>
              </c:strCache>
            </c:strRef>
          </c:tx>
          <c:spPr>
            <a:solidFill>
              <a:srgbClr val="3E6E96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E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C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C53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Sale (one-time)</c:v>
                  </c:pt>
                  <c:pt idx="1">
                    <c:v>Rental (recurring)</c:v>
                  </c:pt>
                  <c:pt idx="2">
                    <c:v>Licensed daycare (recurring)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1.5</c:v>
                </c:pt>
                <c:pt idx="2">
                  <c:v>4.5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1" i="0" strike="noStrike" sz="14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</c:v>
                </c:pt>
              </c:strCache>
            </c:strRef>
          </c:tx>
          <c:spPr>
            <a:solidFill>
              <a:srgbClr val="4A7C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Sell</c:v>
                  </c:pt>
                  <c:pt idx="1">
                    <c:v>Rental</c:v>
                  </c:pt>
                  <c:pt idx="2">
                    <c:v>Daycare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36000</c:v>
                </c:pt>
                <c:pt idx="2">
                  <c:v>108000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rgbClr val="C445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Sell</c:v>
                  </c:pt>
                  <c:pt idx="1">
                    <c:v>Rental</c:v>
                  </c:pt>
                  <c:pt idx="2">
                    <c:v>Daycare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-14000</c:v>
                </c:pt>
                <c:pt idx="2">
                  <c:v>-42000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rgbClr val="9BC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Sell</c:v>
                  </c:pt>
                  <c:pt idx="1">
                    <c:v>Rental</c:v>
                  </c:pt>
                  <c:pt idx="2">
                    <c:v>Daycare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22000</c:v>
                </c:pt>
                <c:pt idx="2">
                  <c:v>66000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0"/>
            <a:ext cx="2926080" cy="6858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2" y="548640"/>
            <a:ext cx="1280160" cy="1280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828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LAPPE</a:t>
            </a:r>
            <a:endParaRPr lang="en-US" sz="6400" dirty="0"/>
          </a:p>
        </p:txBody>
      </p:sp>
      <p:sp>
        <p:nvSpPr>
          <p:cNvPr id="6" name="Text 2"/>
          <p:cNvSpPr/>
          <p:nvPr/>
        </p:nvSpPr>
        <p:spPr>
          <a:xfrm>
            <a:off x="640080" y="2697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800" kern="0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PROPERTIES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40080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not a portal, answers the phone.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4008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management for small landlords in King and Snohomish counties.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846320"/>
            <a:ext cx="1097280" cy="54864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5029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Alignment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" y="5394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Megan Green, Designated Broker  ·  Kevin Lappe, Operations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5760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·  May 2026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are green.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under one promise: a small firm where the principal answers the phone.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743200" cy="10972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grass is greener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switch to us. Renters renew with us.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0712" y="1828800"/>
            <a:ext cx="2743200" cy="10972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1945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are green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85032" y="38404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Habitable, responsive, on the record, on 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743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72784" y="1828800"/>
            <a:ext cx="2743200" cy="109728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194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save you green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47104" y="38404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fees. No markup on vendor invoices. Period.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743200" cy="4206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34856" y="1828800"/>
            <a:ext cx="2743200" cy="109728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1945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grow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409176" y="38404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licensed family child care path when zoning fits.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management is broken on both sides.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feel ignored. Renters feel processed. The category rewards both failures.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4572000"/>
          </a:xfrm>
          <a:prstGeom prst="rect">
            <a:avLst/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4572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OWNERS GET 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made without them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Unilateral renewals and tenant decisions.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markups on vendor invoices.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statements nobody reads.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human between them and their building.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303520" cy="457200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783080"/>
            <a:ext cx="91440" cy="457200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RENTERS GET TODAY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286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Treated like a ticket number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 black hole.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returns weaponized into disputes.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account managers, no continuity.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in. Portal out. No human on the line.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market, ready to be unbundled.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and Snohomish counties: $1.55B TAM, 76% self-managed, no operator above 7% of SAM.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35758" cy="1554480"/>
          </a:xfrm>
          <a:prstGeom prst="rect">
            <a:avLst/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635758" cy="73152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$1.55B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two-county TAM at 10% fee tier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7278" y="1783080"/>
            <a:ext cx="2635758" cy="1554480"/>
          </a:xfrm>
          <a:prstGeom prst="rect">
            <a:avLst/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7278" y="1783080"/>
            <a:ext cx="2635758" cy="73152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5878" y="201168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95878" y="274320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small-owner units self-managed today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5916" y="1783080"/>
            <a:ext cx="2635758" cy="1554480"/>
          </a:xfrm>
          <a:prstGeom prst="rect">
            <a:avLst/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1783080"/>
            <a:ext cx="2635758" cy="73152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4516" y="201168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302K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14516" y="274320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Small-owner doors across King + Snohomish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4554" y="1783080"/>
            <a:ext cx="2635758" cy="1554480"/>
          </a:xfrm>
          <a:prstGeom prst="rect">
            <a:avLst/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4554" y="1783080"/>
            <a:ext cx="2635758" cy="73152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3154" y="2011680"/>
            <a:ext cx="21785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&lt;7%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233154" y="274320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SAM held by any single operator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MANAGES THE SMALL-OWNER SEGMENT NOW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48640" y="4023360"/>
          <a:ext cx="11091672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630936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309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splits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run the rental. Owners pick the next move.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is always operate. After that, three paths the owner chooses with us in the room.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2743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743200" cy="109728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OPERATE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 as a rental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the door. Document condition. Build the data the owner needs to decide.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2834640"/>
            <a:ext cx="1097280" cy="1097280"/>
          </a:xfrm>
          <a:prstGeom prst="diamond">
            <a:avLst/>
          </a:prstGeom>
          <a:solidFill>
            <a:srgbClr val="9BC53D"/>
          </a:solidFill>
          <a:ln w="25400">
            <a:solidFill>
              <a:srgbClr val="1F5A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2011680"/>
            <a:ext cx="6793992" cy="1417320"/>
          </a:xfrm>
          <a:prstGeom prst="rect">
            <a:avLst/>
          </a:prstGeom>
          <a:solidFill>
            <a:srgbClr val="EAF1F5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2011680"/>
            <a:ext cx="91440" cy="1417320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52160" y="228600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A  ·  Sell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852160" y="2697480"/>
            <a:ext cx="5696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coordinate listing prep, agent referral, and tenant transition. Owner exits cleanly.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937760" y="3566160"/>
            <a:ext cx="6793992" cy="1417320"/>
          </a:xfrm>
          <a:prstGeom prst="rect">
            <a:avLst/>
          </a:prstGeom>
          <a:solidFill>
            <a:srgbClr val="EAF1F5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37760" y="3566160"/>
            <a:ext cx="91440" cy="1417320"/>
          </a:xfrm>
          <a:prstGeom prst="rect">
            <a:avLst/>
          </a:prstGeom>
          <a:solidFill>
            <a:srgbClr val="4A7C3A"/>
          </a:solidFill>
          <a:ln w="12700">
            <a:solidFill>
              <a:srgbClr val="4A7C3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840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52160" y="384048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B  ·  Keep renting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852160" y="4251960"/>
            <a:ext cx="5696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under GLP management. Same playbook, next term, longer lease where the renter wants it.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937760" y="5120640"/>
            <a:ext cx="6793992" cy="141732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37760" y="5120640"/>
            <a:ext cx="91440" cy="141732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539496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52160" y="539496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C  ·  Convert to licensed daycare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852160" y="5806440"/>
            <a:ext cx="5696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zoning permits, place a licensed family home provider. Materially higher revenue per square foot.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663440" y="3383280"/>
            <a:ext cx="274320" cy="-662940"/>
          </a:xfrm>
          <a:prstGeom prst="line">
            <a:avLst/>
          </a:prstGeom>
          <a:noFill/>
          <a:ln w="25400">
            <a:solidFill>
              <a:srgbClr val="3E6E9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63440" y="3383280"/>
            <a:ext cx="274320" cy="891540"/>
          </a:xfrm>
          <a:prstGeom prst="line">
            <a:avLst/>
          </a:prstGeom>
          <a:noFill/>
          <a:ln w="25400">
            <a:solidFill>
              <a:srgbClr val="3E6E9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63440" y="3383280"/>
            <a:ext cx="274320" cy="2446020"/>
          </a:xfrm>
          <a:prstGeom prst="line">
            <a:avLst/>
          </a:prstGeom>
          <a:noFill/>
          <a:ln w="25400">
            <a:solidFill>
              <a:srgbClr val="3E6E9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path C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square footage, three operating modes. Monthly recurring revenue per sq ft.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931920" cy="4572000"/>
          </a:xfrm>
          <a:prstGeom prst="rect">
            <a:avLst/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920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804672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uplift when a property qualifies for a licensed family home conversion.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046720" y="4297680"/>
            <a:ext cx="548640" cy="36576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4434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only small PM in King and Snohomish actively building competence in this path.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0" y="553212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5532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to confirm rates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fee schedule, on the wall, in plain language.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 is the product. Owners and renters both see it.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OWNERS PAY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669280" cy="640080"/>
          </a:xfrm>
          <a:prstGeom prst="rect">
            <a:avLst/>
          </a:prstGeom>
          <a:solidFill>
            <a:srgbClr val="EAF1F5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40280"/>
            <a:ext cx="73152" cy="640080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fee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2286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 of collected rent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587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only when rent is collected.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73152" cy="640080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fee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3017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of one month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319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only on placement. No setup fee.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669280" cy="640080"/>
          </a:xfrm>
          <a:prstGeom prst="rect">
            <a:avLst/>
          </a:prstGeom>
          <a:solidFill>
            <a:srgbClr val="EAF1F5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03320"/>
            <a:ext cx="73152" cy="640080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49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fee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749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Flat, lower than placement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4050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only on negotiated new terms.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34840"/>
            <a:ext cx="73152" cy="640080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invoices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Pass-through at cost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4782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 attached. Zero markup.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5669280" cy="640080"/>
          </a:xfrm>
          <a:prstGeom prst="rect">
            <a:avLst/>
          </a:prstGeom>
          <a:solidFill>
            <a:srgbClr val="EAF1F5"/>
          </a:solidFill>
          <a:ln w="12700">
            <a:solidFill>
              <a:srgbClr val="DDE3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66360"/>
            <a:ext cx="73152" cy="640080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212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0" y="5212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cost, WA cap honored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0" y="5513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Pass-through to screening provider.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1783080"/>
            <a:ext cx="5212080" cy="4526280"/>
          </a:xfrm>
          <a:prstGeom prst="rect">
            <a:avLst/>
          </a:prstGeom>
          <a:solidFill>
            <a:srgbClr val="1F5A3D"/>
          </a:solidFill>
          <a:ln w="12700">
            <a:solidFill>
              <a:srgbClr val="1F5A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1783080"/>
            <a:ext cx="5212080" cy="109728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11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606040"/>
            <a:ext cx="274320" cy="27432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269480" y="2560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accountability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269480" y="2880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owner, one phone number, one face. Megan Green answers.</a:t>
            </a:r>
            <a:endParaRPr lang="en-US" sz="11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4720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26948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fluency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7269480" y="3749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1217, Seattle Just Cause, 180-day notice, Issaquah, Tacoma, Burien stack.</a:t>
            </a:r>
            <a:endParaRPr lang="en-US" sz="11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343400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726948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Small-portfolio bias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7269480" y="4617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1-to-20-door landlords, not institutional clients.</a:t>
            </a:r>
            <a:endParaRPr lang="en-US" sz="11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212080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269480" y="5166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Plain-language reports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7269480" y="5486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owner packet a human can read. No PDF mystery statements.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Bothell is the proof, not the portfolio.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playbook on the door we already manage. Then sign three more owners by year-end.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BOTHELL PROVES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23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transition a property off a legacy PM cleanly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900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9443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run the rental directly under the new brand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5701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35112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document zoning and layout for the daycare path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2394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407822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produce an owner packet that beats every incumbent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69087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46451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do all of it inside the Bothell-Mill Creek-Kirkland corridor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6675120" y="1828800"/>
            <a:ext cx="5029200" cy="4206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103120"/>
            <a:ext cx="502920" cy="5029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58952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 ROLLOUT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694944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Bothell, WA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694944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listing. Already under GLP management.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94944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5-10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8641080" y="39867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under management in 12 months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949440" y="4434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5"/>
          <p:cNvSpPr/>
          <p:nvPr/>
        </p:nvSpPr>
        <p:spPr>
          <a:xfrm>
            <a:off x="8641080" y="44897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FCC providers identified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949440" y="4937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</a:t>
            </a:r>
            <a:endParaRPr lang="en-US" sz="2000" dirty="0"/>
          </a:p>
        </p:txBody>
      </p:sp>
      <p:sp>
        <p:nvSpPr>
          <p:cNvPr id="25" name="Text 17"/>
          <p:cNvSpPr/>
          <p:nvPr/>
        </p:nvSpPr>
        <p:spPr>
          <a:xfrm>
            <a:off x="8641080" y="49926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drive between any two doors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949440" y="553212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949440" y="5532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to confirm targets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north star: Leased Months.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months under signed lease across the portfolio. It compounds when we do the job right.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0" cy="4572000"/>
          </a:xfrm>
          <a:prstGeom prst="rect">
            <a:avLst/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4572000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Leased Months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door leased for twelve months = 12 leased months. Daycare operator on a 5-year lease = 60. Vacant month = 0. Eviction stops accrual.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LEVERS THAT MOVE 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doors faster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renters longer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longer leases (daycare path bumps this)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owners longer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ECONOMICS PER DOOR (ILLUSTRATIVE)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0" y="2194560"/>
          <a:ext cx="53309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400800" y="621792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217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to confirm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leads. Kevin operates.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 comes before the brand. Both partners accountable.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4572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532120" cy="109728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Green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Broker  ·  Partner, Lead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face. The 'one name' on contracts and outbound.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relationships, onboarding, and named accountability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fluency: HB 1217, Seattle Just Cause, county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on tokens, voice, and new brand surfaces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C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Megan Green, designated broker.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5532120" cy="4572000"/>
          </a:xfrm>
          <a:prstGeom prst="rect">
            <a:avLst/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783080"/>
            <a:ext cx="5532120" cy="109728"/>
          </a:xfrm>
          <a:prstGeom prst="rect">
            <a:avLst/>
          </a:prstGeom>
          <a:solidFill>
            <a:srgbClr val="9BC53D"/>
          </a:solidFill>
          <a:ln w="12700">
            <a:solidFill>
              <a:srgbClr val="9BC5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488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2788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Kevin Lappe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6629400" y="3337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Partner  ·  Books, Systems, Daycare Path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29400" y="38862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Financials, reporting, and entity structure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software stack (Rentvine or Rentec Direct to start)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Daycare-path zoning research and operator pipeline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Behind-the-scenes operations and trust accounting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294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light to grow.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in the next 90 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points, not aspirations.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0725912" cy="54864"/>
          </a:xfrm>
          <a:prstGeom prst="rect">
            <a:avLst/>
          </a:prstGeom>
          <a:solidFill>
            <a:srgbClr val="3E6E96"/>
          </a:solidFill>
          <a:ln w="12700">
            <a:solidFill>
              <a:srgbClr val="3E6E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39519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4031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2551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alignment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2551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framing, three paths, brand, fee schedule, split.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84702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5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9214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97734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+ license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97734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LLC. Megan's designated broker license posted. Trust account opened.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29884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5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4396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2916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Bothell rebrand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42916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Bothell onto Rentvine. Publish fee schedule. Mail owner packet v1.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5066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5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9578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88098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outside owner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88098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pitch the first non-Lappe owner inside the corridor.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20249" y="3337560"/>
            <a:ext cx="329184" cy="329184"/>
          </a:xfrm>
          <a:prstGeom prst="ellipse">
            <a:avLst/>
          </a:prstGeom>
          <a:solidFill>
            <a:srgbClr val="9BC53D"/>
          </a:solidFill>
          <a:ln w="25400">
            <a:solidFill>
              <a:srgbClr val="1F5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44761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33281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Daycare path ready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33281" y="4434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confirmation. Three FCC providers pre-qualified.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0916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1500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71600" y="557784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decision: stand up Green Lappe Properties as the PM company.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71600" y="603504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framing. Form entity. Rebrand Bothell. Pitch the first outside owner.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Lappe Properties  ·  Partner Alignment Draft  ·  May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Lappe Properties: Partner Alignment v3</dc:title>
  <dc:subject>PptxGenJS Presentation</dc:subject>
  <dc:creator>Kevin Lappe</dc:creator>
  <cp:lastModifiedBy>Kevin Lappe</cp:lastModifiedBy>
  <cp:revision>1</cp:revision>
  <dcterms:created xsi:type="dcterms:W3CDTF">2026-05-19T22:42:42Z</dcterms:created>
  <dcterms:modified xsi:type="dcterms:W3CDTF">2026-05-19T22:42:42Z</dcterms:modified>
</cp:coreProperties>
</file>