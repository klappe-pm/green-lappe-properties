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TAM, $M</c:v>
                </c:pt>
              </c:strCache>
            </c:strRef>
          </c:tx>
          <c:spPr>
            <a:solidFill>
              <a:srgbClr val="1F6B4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B3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4%</c:v>
                  </c:pt>
                  <c:pt idx="1">
                    <c:v>5%</c:v>
                  </c:pt>
                  <c:pt idx="2">
                    <c:v>6%</c:v>
                  </c:pt>
                  <c:pt idx="3">
                    <c:v>8%</c:v>
                  </c:pt>
                  <c:pt idx="4">
                    <c:v>10%</c:v>
                  </c:pt>
                  <c:pt idx="5">
                    <c:v>12%</c:v>
                  </c:pt>
                  <c:pt idx="6">
                    <c:v>14%</c:v>
                  </c:pt>
                  <c:pt idx="7">
                    <c:v>16%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305</c:v>
                </c:pt>
                <c:pt idx="1">
                  <c:v>382</c:v>
                </c:pt>
                <c:pt idx="2">
                  <c:v>458</c:v>
                </c:pt>
                <c:pt idx="3">
                  <c:v>610</c:v>
                </c:pt>
                <c:pt idx="4">
                  <c:v>763</c:v>
                </c:pt>
                <c:pt idx="5">
                  <c:v>917</c:v>
                </c:pt>
                <c:pt idx="6">
                  <c:v>1069</c:v>
                </c:pt>
                <c:pt idx="7">
                  <c:v>1222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900" u="none">
                  <a:solidFill>
                    <a:srgbClr val="0B3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46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7466"/>
                    </a:solidFill>
                    <a:latin typeface="Arial"/>
                  </a:rPr>
                  <a:t>Fee tier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King County</c:v>
                </c:pt>
              </c:strCache>
            </c:strRef>
          </c:tx>
          <c:spPr>
            <a:solidFill>
              <a:srgbClr val="1F6B4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6%</c:v>
                  </c:pt>
                  <c:pt idx="1">
                    <c:v>8%</c:v>
                  </c:pt>
                  <c:pt idx="2">
                    <c:v>10%</c:v>
                  </c:pt>
                  <c:pt idx="3">
                    <c:v>12%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353</c:v>
                </c:pt>
                <c:pt idx="1">
                  <c:v>470</c:v>
                </c:pt>
                <c:pt idx="2">
                  <c:v>588</c:v>
                </c:pt>
                <c:pt idx="3">
                  <c:v>706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Snohomish County</c:v>
                </c:pt>
              </c:strCache>
            </c:strRef>
          </c:tx>
          <c:spPr>
            <a:solidFill>
              <a:srgbClr val="8BC34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6%</c:v>
                  </c:pt>
                  <c:pt idx="1">
                    <c:v>8%</c:v>
                  </c:pt>
                  <c:pt idx="2">
                    <c:v>10%</c:v>
                  </c:pt>
                  <c:pt idx="3">
                    <c:v>12%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105</c:v>
                </c:pt>
                <c:pt idx="1">
                  <c:v>140</c:v>
                </c:pt>
                <c:pt idx="2">
                  <c:v>175</c:v>
                </c:pt>
                <c:pt idx="3">
                  <c:v>211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F2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 ($M / yr)</c:v>
                </c:pt>
              </c:strCache>
            </c:strRef>
          </c:tx>
          <c:spPr>
            <a:solidFill>
              <a:srgbClr val="1F6B47"/>
            </a:solidFill>
            <a:effectLst/>
          </c:spPr>
          <c:invertIfNegative val="0"/>
          <c:dLbls>
            <c:numFmt formatCode="$0&quot;M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B3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Seattle</c:v>
                  </c:pt>
                  <c:pt idx="1">
                    <c:v>Eastside</c:v>
                  </c:pt>
                  <c:pt idx="2">
                    <c:v>South King</c:v>
                  </c:pt>
                  <c:pt idx="3">
                    <c:v>Other King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56</c:v>
                </c:pt>
                <c:pt idx="2">
                  <c:v>58</c:v>
                </c:pt>
                <c:pt idx="3">
                  <c:v>23</c:v>
                </c:pt>
              </c:numCache>
            </c:numRef>
          </c:val>
        </c:ser>
        <c:dLbls>
          <c:numFmt formatCode="$0&quot;M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0B3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King County in-scope doors</c:v>
                </c:pt>
              </c:strCache>
            </c:strRef>
          </c:tx>
          <c:spPr>
            <a:solidFill>
              <a:srgbClr val="1F6B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3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Real Property Associates</c:v>
                  </c:pt>
                  <c:pt idx="1">
                    <c:v>Lori Gill / Windermere PM NW</c:v>
                  </c:pt>
                  <c:pt idx="2">
                    <c:v>SJA Property Mgmt</c:v>
                  </c:pt>
                  <c:pt idx="3">
                    <c:v>Brink Property Mgmt</c:v>
                  </c:pt>
                  <c:pt idx="4">
                    <c:v>Bell-Anderson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3500</c:v>
                </c:pt>
                <c:pt idx="1">
                  <c:v>1200</c:v>
                </c:pt>
                <c:pt idx="2">
                  <c:v>700</c:v>
                </c:pt>
                <c:pt idx="3">
                  <c:v>400</c:v>
                </c:pt>
                <c:pt idx="4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3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Doors</c:v>
                </c:pt>
              </c:strCache>
            </c:strRef>
          </c:tx>
          <c:spPr>
            <a:solidFill>
              <a:srgbClr val="1F6B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3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250</c:v>
                </c:pt>
                <c:pt idx="2">
                  <c:v>850</c:v>
                </c:pt>
                <c:pt idx="3">
                  <c:v>1500</c:v>
                </c:pt>
                <c:pt idx="4">
                  <c:v>2150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3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$M</c:v>
                </c:pt>
              </c:strCache>
            </c:strRef>
          </c:tx>
          <c:spPr>
            <a:solidFill>
              <a:srgbClr val="8BC34A"/>
            </a:solidFill>
            <a:ln w="50800" cap="flat">
              <a:solidFill>
                <a:srgbClr val="8BC34A"/>
              </a:solidFill>
              <a:prstDash val="solid"/>
              <a:round/>
            </a:ln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3D2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8BC34A"/>
              </a:solidFill>
              <a:ln w="9525" cap="flat">
                <a:solidFill>
                  <a:srgbClr val="0B3D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1</c:v>
                </c:pt>
                <c:pt idx="2">
                  <c:v>3.3</c:v>
                </c:pt>
                <c:pt idx="3">
                  <c:v>5.8</c:v>
                </c:pt>
                <c:pt idx="4">
                  <c:v>8.3</c:v>
                </c:pt>
              </c:numCache>
            </c:numRef>
          </c:val>
          <c:smooth val="0"/>
        </c:ser>
        <c:dLbls>
          <c:numFmt formatCode="$0.0&quot;M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B3D2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PSRC baseline (+1.5% / yr)</c:v>
                </c:pt>
              </c:strCache>
            </c:strRef>
          </c:tx>
          <c:spPr>
            <a:solidFill>
              <a:srgbClr val="0B3D2E"/>
            </a:solidFill>
            <a:ln w="38100" cap="flat">
              <a:solidFill>
                <a:srgbClr val="0B3D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B3D2E"/>
              </a:solidFill>
              <a:ln w="9525" cap="flat">
                <a:solidFill>
                  <a:srgbClr val="0B3D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</c:v>
                </c:pt>
                <c:pt idx="1">
                  <c:v>0.95</c:v>
                </c:pt>
                <c:pt idx="2">
                  <c:v>1.2</c:v>
                </c:pt>
                <c:pt idx="3">
                  <c:v>1.55</c:v>
                </c:pt>
                <c:pt idx="4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Stress: +5% / yr</c:v>
                </c:pt>
              </c:strCache>
            </c:strRef>
          </c:tx>
          <c:spPr>
            <a:solidFill>
              <a:srgbClr val="8BC34A"/>
            </a:solidFill>
            <a:ln w="38100" cap="flat">
              <a:solidFill>
                <a:srgbClr val="8BC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BC34A"/>
              </a:solidFill>
              <a:ln w="9525" cap="flat">
                <a:solidFill>
                  <a:srgbClr val="8BC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0.76</c:v>
                </c:pt>
                <c:pt idx="1">
                  <c:v>1.3</c:v>
                </c:pt>
                <c:pt idx="2">
                  <c:v>2.4</c:v>
                </c:pt>
                <c:pt idx="3">
                  <c:v>4.5</c:v>
                </c:pt>
                <c:pt idx="4">
                  <c:v>8.53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Stress: +8% / yr</c:v>
                </c:pt>
              </c:strCache>
            </c:strRef>
          </c:tx>
          <c:spPr>
            <a:solidFill>
              <a:srgbClr val="D97706"/>
            </a:solidFill>
            <a:ln w="381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0.76</c:v>
                </c:pt>
                <c:pt idx="1">
                  <c:v>1.8</c:v>
                </c:pt>
                <c:pt idx="2">
                  <c:v>4.5</c:v>
                </c:pt>
                <c:pt idx="3">
                  <c:v>9.5</c:v>
                </c:pt>
                <c:pt idx="4">
                  <c:v>14.93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0.0&quot;B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F2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per sqft</c:v>
                </c:pt>
              </c:strCache>
            </c:strRef>
          </c:tx>
          <c:spPr>
            <a:solidFill>
              <a:srgbClr val="4A8C5C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3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C3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Path B: standard rental</c:v>
                  </c:pt>
                  <c:pt idx="1">
                    <c:v>Path C: licensed daycare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</c:v>
                </c:pt>
                <c:pt idx="1">
                  <c:v>5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1" i="0" strike="noStrike" sz="1400" u="none">
                  <a:solidFill>
                    <a:srgbClr val="0B3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small-owner rent roll ($M)</c:v>
                </c:pt>
              </c:strCache>
            </c:strRef>
          </c:tx>
          <c:spPr>
            <a:solidFill>
              <a:srgbClr val="8BC34A"/>
            </a:solidFill>
            <a:effectLst/>
          </c:spPr>
          <c:invertIfNegative val="0"/>
          <c:dLbls>
            <c:numFmt formatCode="$0&quot;M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B3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98012 Bothell/Mill Creek</c:v>
                  </c:pt>
                  <c:pt idx="1">
                    <c:v>98052 Redmond</c:v>
                  </c:pt>
                  <c:pt idx="2">
                    <c:v>98033 Kirkland Central</c:v>
                  </c:pt>
                  <c:pt idx="3">
                    <c:v>98008 Bellevue East</c:v>
                  </c:pt>
                  <c:pt idx="4">
                    <c:v>98074 Sammamish</c:v>
                  </c:pt>
                  <c:pt idx="5">
                    <c:v>98072 Woodinville</c:v>
                  </c:pt>
                  <c:pt idx="6">
                    <c:v>98034 Kirkland N</c:v>
                  </c:pt>
                  <c:pt idx="7">
                    <c:v>98155 Lake Forest Park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123.8</c:v>
                </c:pt>
                <c:pt idx="1">
                  <c:v>234</c:v>
                </c:pt>
                <c:pt idx="2">
                  <c:v>165</c:v>
                </c:pt>
                <c:pt idx="3">
                  <c:v>102</c:v>
                </c:pt>
                <c:pt idx="4">
                  <c:v>80</c:v>
                </c:pt>
                <c:pt idx="5">
                  <c:v>75</c:v>
                </c:pt>
                <c:pt idx="6">
                  <c:v>138</c:v>
                </c:pt>
                <c:pt idx="7">
                  <c:v>110.9</c:v>
                </c:pt>
              </c:numCache>
            </c:numRef>
          </c:val>
        </c:ser>
        <c:dLbls>
          <c:numFmt formatCode="$0&quot;M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B3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F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2286000"/>
            <a:ext cx="8229600" cy="822960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914400"/>
            <a:ext cx="4572000" cy="457200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731520"/>
            <a:ext cx="1371600" cy="1371600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73152" cy="2011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5760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grass is greener on this side.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opportunity brief for a marketplace-operator property management company in King and Snohomish.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Thesis. Market. Wedge. Plan.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draft  ·  Megan Green + Kevin Lappe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“Green LAP-ee.” Rhymes with happy.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property management market is shifting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one-sided agency to two-sided marketplace operator.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4023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collector for owners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is the only customer.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treated as monthly rent flow.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a cost center.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fee capture.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incidental, not designed.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3383280"/>
            <a:ext cx="365760" cy="731520"/>
          </a:xfrm>
          <a:prstGeom prst="chevron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91640"/>
            <a:ext cx="5166360" cy="402336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operator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20840" y="274320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yield.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experience.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quality.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trust.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5074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create marketplace health.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trust, retention, and satisfaction directly determine owner returns.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describe the job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business. Different lens for different audiences.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3657600" cy="164592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maker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platform and product audiences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liquidity, trust, pricing, quality, repeat participation. The PM makes the rental market work between supply (owners) and demand (residents).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691640"/>
            <a:ext cx="3657600" cy="16459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broker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dispute, retention, and transparency conversations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4206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trust between owners who need reliable asset performance and residents who need stable, livable housing. Brand promise enforceable at the policy layer.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691640"/>
            <a:ext cx="3657600" cy="16459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7532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performance manager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7532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owners who care about returns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206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collection is the output. Asset performance is the job. Resident satisfaction, maintenance quality, occupancy, renewals, compliance all feed performance.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#3 for owners. #2 with renters. #1 when explaining the model to investors.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sides. Same broken middle.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PM firms underserve owners and renters simultaneously. That is the wedge.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1148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4114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owners get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Unilateral renewals, no consultation (O4)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fees, vendor markups, opaque statements (O3)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or evasive responses (O2)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that fail at tax time (O6)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view of the asset (O7)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577840" cy="41148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91640"/>
            <a:ext cx="109728" cy="4114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renters get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tickets that vanish into a portal (R1)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used as a cudgel, not a service (R3)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returned slowly or not at all (R5)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account managers, no one accountable (R2)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stacks added between offer and lease (R4)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operator solves both at once. A single-sided agency cannot.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green-lappe-brand-style-guide.md, pain point tables O1–O10 / R1–R6.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8229600" cy="822960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2240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28346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big is this, really?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0" y="4389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TAM, SAM, SOM. King and Snohomish counties. 2025 base. Twenty-year forecast.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· small-owner segment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302K doors. $7.6B annual rent roll. Management revenue scales with the fee tier.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$763M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10% fee tier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302K small-owner doors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228K King + 74K Snohomish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$7.6B rent roll (MODELED)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 $2,108/mo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 each management fee tier ($M / yr)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80560" y="2011680"/>
          <a:ext cx="7223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MODELED. Source: compass_artifact TAM memo §1.1 + section 6. Small-owner only; institutional REIT and 50+ unit excluded.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by county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is 4x Snohomish. Eastside premium concentrates the highest fee-per-door.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by fee tier and county ($M / yr)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691640"/>
            <a:ext cx="39319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0" y="1691640"/>
            <a:ext cx="109728" cy="429768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219456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 alone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228K doors  ·  $5.9B rent roll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Snohomish County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 doors  ·  $1.75B rent roll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Eastside premium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Bellevue / Kirkland / Redmond average $2,500–$2,724.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institutional share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4% SFR institutional (GAO 2026) vs 22% national high. Unusually individual-landlord-heavy.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compass_artifact TAM memo. MODELED. King = 228K × $2,150 × 12; Snohomish = 74K × $1,975 × 12.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· from full universe to addressable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TAM down to doors a small operator can realistically pursue.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601200" cy="4114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9105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renter-occupied units (King)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41280" y="1591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448,717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229600" cy="41148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9397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50+ unit large MF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0" y="2093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269,000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6858000" cy="41148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9689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SFR + condo + 2–4 unit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5968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188,000 (TAM)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486400" cy="41148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998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~78% individual + small LLC share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3099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145–160K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4114800" cy="4114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027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permanent self-managers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95,000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200400" cy="4114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05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out-of-submarket + locked contracts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41056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76,000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2560320" cy="4114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08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 addressable + currently served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4608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56,000 (SAM)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40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194560" y="5440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56,000 doors  ×  $3,850 fee per door per year  =  $216M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94560" y="58064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which ·48K already use third-party PM; ·8K are realistic conversion targets over 3–5 years.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king-county-pm-fact-checked-report.md. King County only on this slide; SAM excludes Snohomish.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by submarket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addressable doors actually are. Choose targeting consciously.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858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319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80960" y="1691640"/>
            <a:ext cx="109728" cy="42976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55280" y="219456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Eastside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fee/door ($4,300). Stickiest incumbents.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doors. Lowest fee/door ($3,200). Least competition.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regulatory complexity. Best fit for compliance-led differentiation.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corridor (our anchor)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Eastside-adjacent. ~$2,272 avg. Lower competition than core Eastside.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king-county-pm-fact-checked-report.md, SAM by submarket. Submarket SAM total $209M reconciles ·3% with $216M county SAM (rounding).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owns this 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operators combined hold 11% of SAM. Classic fragmented-services opening.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in-scope operators, King County (doors)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7315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691640"/>
            <a:ext cx="3474720" cy="42976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832104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combined share of SAM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21040" y="39319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operator &gt; 7%.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·42K managed doors spread across 40+ smaller operators plus Real Property Mgmt franchises, Evernest, Mynd.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king-county-pm-fact-checked-report.md, Top 5 operators. Door counts ±20%; SOM math robust to that range.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· three scenarios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choice determines door capture. Year 3 and Year 5 ranges.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3657600" cy="41148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Bootstrapped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$500K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doors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doors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~$770K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doors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doors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revenue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4663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~$1.5M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120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SAM share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1691640"/>
            <a:ext cx="3657600" cy="4023360"/>
          </a:xfrm>
          <a:prstGeom prst="rect">
            <a:avLst/>
          </a:prstGeom>
          <a:solidFill>
            <a:srgbClr val="FFFFFF"/>
          </a:solidFill>
          <a:ln w="31750">
            <a:solidFill>
              <a:srgbClr val="8BC34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1691640"/>
            <a:ext cx="3657600" cy="4114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Funded boutique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8056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$1–3M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doors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700–1,000 doors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$2.7–3.85M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doors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1,800–2,500 doors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8056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revenue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4663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$7–9.6M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80560" y="5120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SAM share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3.2–4.5%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169164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1691640"/>
            <a:ext cx="3657600" cy="4114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Funded + M&amp;A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27532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$5–15M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7532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doors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2980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1,200–1,400 doors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7532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298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$4.6–5.4M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75320" y="4206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doors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2980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3,000–3,500 doors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7532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revenue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829800" y="4663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$11.5–13.5M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75320" y="5120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SAM share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82980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5.4–6.3%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king-county-pm-fact-checked-report.md, SOM Scenarios.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6035040"/>
            <a:ext cx="59436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605332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capital path. Scenario B is the working assumption.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trajectory · Scenario 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and annualized revenue through Year 5. Working plan numbers.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under management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fee revenue ($M)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00800" y="201168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MODELED, Scenario B. Doors ramp interpolated between published Y3 (700–1K) and Y5 (1.8–2.5K) midpoints. $3,850 fee/door/yr.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49440" y="60533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Y1–Y2 ramp; needs sales-cycle model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Twenty-year forecast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two-county TAM at 10% fee tier under five inventory CAGR scenarios. Through 2046.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691640"/>
            <a:ext cx="3566160" cy="42062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7532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WAY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75320" y="224028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$0.76B → $2.0B</a:t>
            </a:r>
            <a:endParaRPr lang="en-US" sz="18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PSRC baseline by 2046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planning range is 5% scenario or below.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CAGR scenarios are physically implausible without institutional capital that would dilute the small-owner share.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compass_artifact 20-year forecast §H. MODELED at 10% fee tier. Small-owner segment only.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8229600" cy="822960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2240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28346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win the second meeting.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0" y="4389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from operate as rental. The FCC wedge is the margin product.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paths from “operate as rental”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 runs through one entry. Three exits. Path A handed to the realty partner.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560320" cy="14630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 as rental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Stabilize, manage, report. Earn the right to advise on what comes next.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7040880" cy="13716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45920"/>
            <a:ext cx="109728" cy="137160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exits the asset. Referred to the existing realty business. Green Lappe coordinates handoff; we do not list.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241280" y="1810512"/>
            <a:ext cx="1188720" cy="29260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0" y="1810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3657600"/>
            <a:ext cx="1463040" cy="-1325880"/>
          </a:xfrm>
          <a:prstGeom prst="line">
            <a:avLst/>
          </a:prstGeom>
          <a:noFill/>
          <a:ln w="25400">
            <a:solidFill>
              <a:srgbClr val="4A8C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200400"/>
            <a:ext cx="7040880" cy="13716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3200400"/>
            <a:ext cx="109728" cy="137160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operating as rental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40233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most homes. Renewals, rate setting, repairs, monthly statements, annual review. The volume product.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41280" y="3364992"/>
            <a:ext cx="1188720" cy="292608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3364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08960" y="3657600"/>
            <a:ext cx="1463040" cy="228600"/>
          </a:xfrm>
          <a:prstGeom prst="line">
            <a:avLst/>
          </a:prstGeom>
          <a:noFill/>
          <a:ln w="25400">
            <a:solidFill>
              <a:srgbClr val="1F6B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4754880"/>
            <a:ext cx="7040880" cy="137160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754880"/>
            <a:ext cx="109728" cy="137160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to licensed daycare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0" y="55778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homes only. WA DCYF licensed family child care. Resident licensee. Daycare lease addendum. Margin product.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41280" y="4919472"/>
            <a:ext cx="1188720" cy="2926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0" y="4919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path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08960" y="3657600"/>
            <a:ext cx="1463040" cy="1783080"/>
          </a:xfrm>
          <a:prstGeom prst="line">
            <a:avLst/>
          </a:prstGeom>
          <a:noFill/>
          <a:ln w="25400">
            <a:solidFill>
              <a:srgbClr val="8BC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FCC wedge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is the volume product. Path C is the margin product. Same property, very different yield.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40480" cy="42062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8745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4x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795528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sqft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0" y="39319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of premium rent, services fee, and capex coordination fee.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properties where zoning, mortgage covenants, insurance, and demand support 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MODELED. Source: green-lappe-two-sided-marketplace.md §5.2. WA DCYF allows 12 children per home, 16 with sprinkler waiver.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60533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$/sqft assumptions for Seattle metro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Path C lives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ZIPs by small-owner SFR stock and daycare-permissive zoning. The Bothell anchor is on this list.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691640"/>
            <a:ext cx="3017520" cy="42976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ZIPS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78240" y="219456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Family-dense suburbs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wait-listed, dual-income households.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SFR-heavy stock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footprints, yards, parking.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Daycare-permissive zoning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homes generally OK in WA residential zones.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98012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Bothell property is here.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compass_artifact TAM memo §13.2 + effort-6 top-10 daycare conversion ZIPs. MODELED.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8229600" cy="822960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2240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28346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 next.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0" y="4389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Pricing. Partner roles. The decisions to lock in this meeting.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make money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on Path B. Premium structure on Path C. Both audiences see the price.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93192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393192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 ·  STANDARD RENTAL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pricing. No surprises.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fee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of collected rent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fee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one month, on placement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fee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$250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markup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0%, pass-through with invoices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days, either side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5303520" cy="393192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 ·  LICENSED DAYCARE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stack.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lease rent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PropCo, above-market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services fee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068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of gross tuition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coordination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0684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conversion budget, capped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mgmt fee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06840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applies on the underlying lease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E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properties where zoning, mortgage, insurance, and demand support 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5760720"/>
            <a:ext cx="50292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57790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9% / 60% / $250 vs market; daycare services 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brand. One named principal. One operations partner.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577840" cy="18288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1188720" cy="1188720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4028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Green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4028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broker. Public face of the brand.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broker license carries the firm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resident relationships, signed agreements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presence: property visits, inspections, vendor walks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all renewals, rate changes, vendor selections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691640"/>
            <a:ext cx="5577840" cy="18288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148840"/>
            <a:ext cx="1188720" cy="1188720"/>
          </a:xfrm>
          <a:prstGeom prst="ellipse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00100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Kevin Lappe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0100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partner. Builds the company behind Megan.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36118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banking, entity structure, year-end packets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Systems: PM software, dashboards, lease templates, SLAs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web, content, owner acquisition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structure: PropCo / OpCo, licensing, lender + insurer 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59436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00760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ownership split, draw structure, broker license path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Milestones, next 12 months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handshake to first Path C candidate identified.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0" y="3383280"/>
            <a:ext cx="8503920" cy="7315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3191256"/>
            <a:ext cx="457200" cy="457200"/>
          </a:xfrm>
          <a:prstGeom prst="ellipse">
            <a:avLst/>
          </a:prstGeom>
          <a:solidFill>
            <a:srgbClr val="8BC34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377440" cy="141732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’26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up the firm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broker license, banking, software stack, op agreement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3191256"/>
            <a:ext cx="457200" cy="457200"/>
          </a:xfrm>
          <a:prstGeom prst="ellipse">
            <a:avLst/>
          </a:prstGeom>
          <a:solidFill>
            <a:srgbClr val="8BC34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1691640"/>
            <a:ext cx="2377440" cy="141732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’26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doors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in-house, 3–5 doors from referrals, brand site live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3191256"/>
            <a:ext cx="457200" cy="457200"/>
          </a:xfrm>
          <a:prstGeom prst="ellipse">
            <a:avLst/>
          </a:prstGeom>
          <a:solidFill>
            <a:srgbClr val="8BC34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691640"/>
            <a:ext cx="2377440" cy="141732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’26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rhythm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doors, vendor network, first year-end packet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04120" y="3191256"/>
            <a:ext cx="457200" cy="457200"/>
          </a:xfrm>
          <a:prstGeom prst="ellipse">
            <a:avLst/>
          </a:prstGeom>
          <a:solidFill>
            <a:srgbClr val="8BC34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0" y="1691640"/>
            <a:ext cx="2377440" cy="141732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’27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Path 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116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candidate selected, PropCo / OpCo formed, licensee sourced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11064240" cy="182880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389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FOR THIS MEETING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split, draws, decision rights, and time commitment.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as designated broker. License path and timeline.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 at launch: Bothell corridor, or full two-county scope.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path: Scenario A bootstrap, or raise to Scenario B.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Branding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Palette, voice, taglines. Full system in green-lappe-brand-system.md.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83080" cy="1188720"/>
          </a:xfrm>
          <a:prstGeom prst="rect">
            <a:avLst/>
          </a:prstGeom>
          <a:solidFill>
            <a:srgbClr val="0B3D2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Green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#0B3D2E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554480"/>
            <a:ext cx="1783080" cy="1188720"/>
          </a:xfrm>
          <a:prstGeom prst="rect">
            <a:avLst/>
          </a:prstGeom>
          <a:solidFill>
            <a:srgbClr val="1F6B4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#1F6B47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3246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1783080" cy="1188720"/>
          </a:xfrm>
          <a:prstGeom prst="rect">
            <a:avLst/>
          </a:prstGeom>
          <a:solidFill>
            <a:srgbClr val="4A8C5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#4A8C5C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3246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1783080" cy="1188720"/>
          </a:xfrm>
          <a:prstGeom prst="rect">
            <a:avLst/>
          </a:prstGeom>
          <a:solidFill>
            <a:srgbClr val="8BC34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#8BC34A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3246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46720" y="1554480"/>
            <a:ext cx="1783080" cy="1188720"/>
          </a:xfrm>
          <a:prstGeom prst="rect">
            <a:avLst/>
          </a:prstGeom>
          <a:solidFill>
            <a:srgbClr val="C5E1A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#C5E1A5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3246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fill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921240" y="1554480"/>
            <a:ext cx="1783080" cy="118872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2124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#F5F7F2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21240" y="3246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5486400" cy="23774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657600"/>
            <a:ext cx="109728" cy="2377440"/>
          </a:xfrm>
          <a:prstGeom prst="rect">
            <a:avLst/>
          </a:prstGeom>
          <a:solidFill>
            <a:srgbClr val="1F6B47"/>
          </a:solidFill>
          <a:ln w="12700">
            <a:solidFill>
              <a:srgbClr val="1F6B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1148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Direct. Specific. Accountable. Local. Calm.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Fraunces / Inter (web); Georgia / Calibri (Office).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“I’ll have an answer Friday.”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Don’t: “We strive to provide timely responses.”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Forbidden: solutions, passionate, dedicated, journey, leverage.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3657600"/>
            <a:ext cx="5394960" cy="2377440"/>
          </a:xfrm>
          <a:prstGeom prst="rect">
            <a:avLst/>
          </a:prstGeom>
          <a:solidFill>
            <a:srgbClr val="F5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657600"/>
            <a:ext cx="109728" cy="237744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Taglines + logo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37960" y="4206240"/>
            <a:ext cx="685800" cy="685800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93408" y="4361688"/>
            <a:ext cx="365760" cy="36576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152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37960" y="49834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grass is greener on this side.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1A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We save you green.  ·  Green light to grow.</a:t>
            </a:r>
            <a:endParaRPr lang="en-US" sz="10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(internal): Things are green.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Opportunity brief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  ·  Partner draft  ·  2026-05-19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Lappe Properties — Opportunity Brief</dc:title>
  <dc:subject>PptxGenJS Presentation</dc:subject>
  <dc:creator>Green Lappe Properties</dc:creator>
  <cp:lastModifiedBy>Green Lappe Properties</cp:lastModifiedBy>
  <cp:revision>1</cp:revision>
  <dcterms:created xsi:type="dcterms:W3CDTF">2026-05-19T23:08:55Z</dcterms:created>
  <dcterms:modified xsi:type="dcterms:W3CDTF">2026-05-19T23:08:55Z</dcterms:modified>
</cp:coreProperties>
</file>